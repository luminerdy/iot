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1d3855a7b7456c" /><Relationship Type="http://schemas.openxmlformats.org/officeDocument/2006/relationships/extended-properties" Target="/docProps/app.xml" Id="R776c99da24414229" /><Relationship Type="http://schemas.openxmlformats.org/officeDocument/2006/relationships/officeDocument" Target="/ppt/presentation.xml" Id="R6a24cbbcf95340bb" /></Relationships>
</file>

<file path=ppt/presentation.xml><?xml version="1.0" encoding="utf-8"?>
<p:presentation xmlns:p="http://schemas.openxmlformats.org/presentationml/2006/main">
  <p:sldMasterIdLst>
    <p:sldMasterId xmlns:r="http://schemas.openxmlformats.org/officeDocument/2006/relationships" id="2147483648" r:id="Rc6514e1c194344e8"/>
  </p:sldMasterIdLst>
  <p:notesMasterIdLst>
    <p:notesMasterId xmlns:r="http://schemas.openxmlformats.org/officeDocument/2006/relationships" r:id="R1af3afe3c2334dda"/>
  </p:notesMasterIdLst>
  <p:sldIdLst>
    <p:sldId xmlns:r="http://schemas.openxmlformats.org/officeDocument/2006/relationships" id="256" r:id="R265865a0bfda4605"/>
    <p:sldId xmlns:r="http://schemas.openxmlformats.org/officeDocument/2006/relationships" id="257" r:id="R9bda57f25ae34437"/>
    <p:sldId xmlns:r="http://schemas.openxmlformats.org/officeDocument/2006/relationships" id="258" r:id="R7510bdaa9c274bc1"/>
    <p:sldId xmlns:r="http://schemas.openxmlformats.org/officeDocument/2006/relationships" id="259" r:id="Re1172276db38473b"/>
    <p:sldId xmlns:r="http://schemas.openxmlformats.org/officeDocument/2006/relationships" id="260" r:id="R6cfcdd3053044547"/>
    <p:sldId xmlns:r="http://schemas.openxmlformats.org/officeDocument/2006/relationships" id="261" r:id="R7b5801f9bf464f3d"/>
    <p:sldId xmlns:r="http://schemas.openxmlformats.org/officeDocument/2006/relationships" id="262" r:id="Rda5ef91ea11944a7"/>
    <p:sldId xmlns:r="http://schemas.openxmlformats.org/officeDocument/2006/relationships" id="263" r:id="R0e67a96b849e473c"/>
    <p:sldId xmlns:r="http://schemas.openxmlformats.org/officeDocument/2006/relationships" id="264" r:id="Ra4e3d369c1b048a9"/>
    <p:sldId xmlns:r="http://schemas.openxmlformats.org/officeDocument/2006/relationships" id="265" r:id="R3210d78887e8463e"/>
    <p:sldId xmlns:r="http://schemas.openxmlformats.org/officeDocument/2006/relationships" id="266" r:id="Rf8619d7e0d0a472b"/>
    <p:sldId xmlns:r="http://schemas.openxmlformats.org/officeDocument/2006/relationships" id="267" r:id="Rbdcef3d6099f47c5"/>
    <p:sldId xmlns:r="http://schemas.openxmlformats.org/officeDocument/2006/relationships" id="268" r:id="Ra251acf5ed654612"/>
    <p:sldId xmlns:r="http://schemas.openxmlformats.org/officeDocument/2006/relationships" id="269" r:id="Ra0cd52497d9344fd"/>
    <p:sldId xmlns:r="http://schemas.openxmlformats.org/officeDocument/2006/relationships" id="270" r:id="Rceb4ae296b7945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3f086e48b44edf" /><Relationship Type="http://schemas.openxmlformats.org/officeDocument/2006/relationships/slideMaster" Target="/ppt/slideMasters/slideMaster1.xml" Id="Rc6514e1c194344e8" /><Relationship Type="http://schemas.openxmlformats.org/officeDocument/2006/relationships/notesMaster" Target="/ppt/notesMasters/notesMaster1.xml" Id="R1af3afe3c2334dda" /><Relationship Type="http://schemas.openxmlformats.org/officeDocument/2006/relationships/presProps" Target="/ppt/presProps.xml" Id="Reb5b29780ebe4308" /><Relationship Type="http://schemas.openxmlformats.org/officeDocument/2006/relationships/tableStyles" Target="/ppt/tableStyles.xml" Id="Rcd937f87ef914184" /><Relationship Type="http://schemas.openxmlformats.org/officeDocument/2006/relationships/slide" Target="/ppt/slides/slide1.xml" Id="R265865a0bfda4605" /><Relationship Type="http://schemas.openxmlformats.org/officeDocument/2006/relationships/slide" Target="/ppt/slides/slide2.xml" Id="R9bda57f25ae34437" /><Relationship Type="http://schemas.openxmlformats.org/officeDocument/2006/relationships/slide" Target="/ppt/slides/slide3.xml" Id="R7510bdaa9c274bc1" /><Relationship Type="http://schemas.openxmlformats.org/officeDocument/2006/relationships/slide" Target="/ppt/slides/slide4.xml" Id="Re1172276db38473b" /><Relationship Type="http://schemas.openxmlformats.org/officeDocument/2006/relationships/slide" Target="/ppt/slides/slide5.xml" Id="R6cfcdd3053044547" /><Relationship Type="http://schemas.openxmlformats.org/officeDocument/2006/relationships/slide" Target="/ppt/slides/slide6.xml" Id="R7b5801f9bf464f3d" /><Relationship Type="http://schemas.openxmlformats.org/officeDocument/2006/relationships/slide" Target="/ppt/slides/slide7.xml" Id="Rda5ef91ea11944a7" /><Relationship Type="http://schemas.openxmlformats.org/officeDocument/2006/relationships/slide" Target="/ppt/slides/slide8.xml" Id="R0e67a96b849e473c" /><Relationship Type="http://schemas.openxmlformats.org/officeDocument/2006/relationships/slide" Target="/ppt/slides/slide9.xml" Id="Ra4e3d369c1b048a9" /><Relationship Type="http://schemas.openxmlformats.org/officeDocument/2006/relationships/slide" Target="/ppt/slides/slide10.xml" Id="R3210d78887e8463e" /><Relationship Type="http://schemas.openxmlformats.org/officeDocument/2006/relationships/slide" Target="/ppt/slides/slide11.xml" Id="Rf8619d7e0d0a472b" /><Relationship Type="http://schemas.openxmlformats.org/officeDocument/2006/relationships/slide" Target="/ppt/slides/slide12.xml" Id="Rbdcef3d6099f47c5" /><Relationship Type="http://schemas.openxmlformats.org/officeDocument/2006/relationships/slide" Target="/ppt/slides/slide13.xml" Id="Ra251acf5ed654612" /><Relationship Type="http://schemas.openxmlformats.org/officeDocument/2006/relationships/slide" Target="/ppt/slides/slide14.xml" Id="Ra0cd52497d9344fd" /><Relationship Type="http://schemas.openxmlformats.org/officeDocument/2006/relationships/slide" Target="/ppt/slides/slide15.xml" Id="Rceb4ae296b7945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bd362a6c8443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b34788af6d4c87" /><Relationship Type="http://schemas.openxmlformats.org/officeDocument/2006/relationships/notesMaster" Target="/ppt/notesMasters/notesMaster1.xml" Id="R229ccb8eda1947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cf5d0f30d4533" /><Relationship Type="http://schemas.openxmlformats.org/officeDocument/2006/relationships/notesMaster" Target="/ppt/notesMasters/notesMaster1.xml" Id="Rc98c9669da9843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5d832e3f144b21" /><Relationship Type="http://schemas.openxmlformats.org/officeDocument/2006/relationships/notesMaster" Target="/ppt/notesMasters/notesMaster1.xml" Id="R419d35ed18fe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84b55ccdfa4cbc" /><Relationship Type="http://schemas.openxmlformats.org/officeDocument/2006/relationships/notesMaster" Target="/ppt/notesMasters/notesMaster1.xml" Id="R2b781175399347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5c8cd6cc954df9" /><Relationship Type="http://schemas.openxmlformats.org/officeDocument/2006/relationships/notesMaster" Target="/ppt/notesMasters/notesMaster1.xml" Id="R745e52ef5bdd48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cb155803f7478c" /><Relationship Type="http://schemas.openxmlformats.org/officeDocument/2006/relationships/notesMaster" Target="/ppt/notesMasters/notesMaster1.xml" Id="R0b7e1b4e39c6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b89222c34c45ba" /><Relationship Type="http://schemas.openxmlformats.org/officeDocument/2006/relationships/notesMaster" Target="/ppt/notesMasters/notesMaster1.xml" Id="R9d8dd386a56c44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8df6b7ce954bf3" /><Relationship Type="http://schemas.openxmlformats.org/officeDocument/2006/relationships/notesMaster" Target="/ppt/notesMasters/notesMaster1.xml" Id="R57f8d1fa180d4e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ee7908ad0f45f0" /><Relationship Type="http://schemas.openxmlformats.org/officeDocument/2006/relationships/notesMaster" Target="/ppt/notesMasters/notesMaster1.xml" Id="R20b0cf85af2c41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14c0705afc4370" /><Relationship Type="http://schemas.openxmlformats.org/officeDocument/2006/relationships/notesMaster" Target="/ppt/notesMasters/notesMaster1.xml" Id="R0ecdee146c7640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f04eacb1545f2" /><Relationship Type="http://schemas.openxmlformats.org/officeDocument/2006/relationships/notesMaster" Target="/ppt/notesMasters/notesMaster1.xml" Id="R312644a8e21942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84db1212f94689" /><Relationship Type="http://schemas.openxmlformats.org/officeDocument/2006/relationships/notesMaster" Target="/ppt/notesMasters/notesMaster1.xml" Id="R57b76f905d4048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702fbf265246ec" /><Relationship Type="http://schemas.openxmlformats.org/officeDocument/2006/relationships/notesMaster" Target="/ppt/notesMasters/notesMaster1.xml" Id="Rb8c12e76550d46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7d7a74c35448fc" /><Relationship Type="http://schemas.openxmlformats.org/officeDocument/2006/relationships/notesMaster" Target="/ppt/notesMasters/notesMaster1.xml" Id="Rdbba3611b11743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637266e76a4904" /><Relationship Type="http://schemas.openxmlformats.org/officeDocument/2006/relationships/notesMaster" Target="/ppt/notesMasters/notesMaster1.xml" Id="R511b85363fd948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contrast: this project began years before modern coding agents. The modernization is real, but the reason for sharing it is broader. It changed my understanding of who can turn an idea into a sustained product—and what our role can become when AI joins the work.</a:t>
            </a:r>
          </a:p>
          <a:p xmlns:a="http://schemas.openxmlformats.org/drawingml/2006/main">
            <a:r>
              <a:t/>
            </a:r>
          </a:p>
          <a:p xmlns:a="http://schemas.openxmlformats.org/drawingml/2006/main">
            <a:r>
              <a:t>[Sources]</a:t>
            </a:r>
          </a:p>
          <a:p xmlns:a="http://schemas.openxmlformats.org/drawingml/2006/main">
            <a:r>
              <a:t>- Generated editorial hero image using built-in image generation</a:t>
            </a:r>
          </a:p>
          <a:p xmlns:a="http://schemas.openxmlformats.org/drawingml/2006/main">
            <a:r>
              <a:t>- IOT_MODERNIZATION_TALK_RESEARCH.md</a:t>
            </a:r>
          </a:p>
          <a:p xmlns:a="http://schemas.openxmlformats.org/drawingml/2006/main">
            <a:r>
              <a:t>- User project history and Raspberry Pi inspection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product idea was simple: place sensors around the property, gather temperature and humidity readings, preserve the history, and make the information visible in a dashboard. The idea was useful enough to survive for nine years, even when development stopped.</a:t>
            </a:r>
          </a:p>
          <a:p xmlns:a="http://schemas.openxmlformats.org/drawingml/2006/main">
            <a:r>
              <a:t/>
            </a:r>
          </a:p>
          <a:p xmlns:a="http://schemas.openxmlformats.org/drawingml/2006/main">
            <a:r>
              <a:t>[Sources]</a:t>
            </a:r>
          </a:p>
          <a:p xmlns:a="http://schemas.openxmlformats.org/drawingml/2006/main">
            <a:r>
              <a:t>- User project recollection</a:t>
            </a:r>
          </a:p>
          <a:p xmlns:a="http://schemas.openxmlformats.org/drawingml/2006/main">
            <a:r>
              <a:t>- IOT_MODERNIZATION_TALK_RESEARCH.md: original project goal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Particle helped me begin. AWS helped me learn IoT and expand to about twenty ESP32 devices. In 2026, the physical fleet was still useful. The question was whether I could modernize everything around it without becoming an expert in every technology involved.</a:t>
            </a:r>
          </a:p>
          <a:p xmlns:a="http://schemas.openxmlformats.org/drawingml/2006/main">
            <a:r>
              <a:t/>
            </a:r>
          </a:p>
          <a:p xmlns:a="http://schemas.openxmlformats.org/drawingml/2006/main">
            <a:r>
              <a:t>[Sources]</a:t>
            </a:r>
          </a:p>
          <a:p xmlns:a="http://schemas.openxmlformats.org/drawingml/2006/main">
            <a:r>
              <a:t>- User statements in the presentation-planning conversation</a:t>
            </a:r>
          </a:p>
          <a:p xmlns:a="http://schemas.openxmlformats.org/drawingml/2006/main">
            <a:r>
              <a:t>- IOT_MODERNIZATION_TALK_RESEARCH.md: project timeline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collected data, and I learned AWS IoT in the process. But every improvement required connecting and maintaining more services. With about twenty devices, reporting frequency also affected cost, so I reduced the fleet to one reading every ten minutes. Eventually the system kept working, but I stopped developing it.</a:t>
            </a:r>
          </a:p>
          <a:p xmlns:a="http://schemas.openxmlformats.org/drawingml/2006/main">
            <a:r>
              <a:t/>
            </a:r>
          </a:p>
          <a:p xmlns:a="http://schemas.openxmlformats.org/drawingml/2006/main">
            <a:r>
              <a:t>[Sources]</a:t>
            </a:r>
          </a:p>
          <a:p xmlns:a="http://schemas.openxmlformats.org/drawingml/2006/main">
            <a:r>
              <a:t>- Generated cloud-friction editorial illustration using built-in image generation</a:t>
            </a:r>
          </a:p>
          <a:p xmlns:a="http://schemas.openxmlformats.org/drawingml/2006/main">
            <a:r>
              <a:t>- User project recollection</a:t>
            </a:r>
          </a:p>
          <a:p xmlns:a="http://schemas.openxmlformats.org/drawingml/2006/main">
            <a:r>
              <a:t>- Legacy repository inspection</a:t>
            </a:r>
          </a:p>
          <a:p xmlns:a="http://schemas.openxmlformats.org/drawingml/2006/main">
            <a:r>
              <a:t>- IOT_MODERNIZATION_TALK_RESEARCH.md: cloud-era constraints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old system. The sensors were simple, but the cloud side branched into messaging, routing, pipelines, storage, queries, and hosting. The dashboard shown at the end was the goal, not a finished product—the red X marks that it was never built. Between July 4, 2021 and October 30, 2025, the preserved datasets contain 3,480,081 valid readings. AWS collected the data and taught me IoT, but the architecture around the original idea became the part I no longer wanted to maintain.</a:t>
            </a:r>
          </a:p>
          <a:p xmlns:a="http://schemas.openxmlformats.org/drawingml/2006/main">
            <a:r>
              <a:t/>
            </a:r>
          </a:p>
          <a:p xmlns:a="http://schemas.openxmlformats.org/drawingml/2006/main">
            <a:r>
              <a:t>[Sources]</a:t>
            </a:r>
          </a:p>
          <a:p xmlns:a="http://schemas.openxmlformats.org/drawingml/2006/main">
            <a:r>
              <a:t>- Generated architecture illustration based on the inspected legacy repository and user project history</a:t>
            </a:r>
          </a:p>
          <a:p xmlns:a="http://schemas.openxmlformats.org/drawingml/2006/main">
            <a:r>
              <a:t>- presentation_assets/old-system-esp32-to-aws-iot.png</a:t>
            </a:r>
          </a:p>
          <a:p xmlns:a="http://schemas.openxmlformats.org/drawingml/2006/main">
            <a:r>
              <a:t>- pasted-text.txt dataset-history analysis: 107,306 + 3,372,775 = 3,480,081 readings</a:t>
            </a:r>
          </a:p>
          <a:p xmlns:a="http://schemas.openxmlformats.org/drawingml/2006/main">
            <a:r>
              <a:t>- User clarification: the AWS-era dashboard was the intended end goal but was never built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sensor fleet now reports through the home router to PiServer. PiServer owns MQTT, SQLite, the dashboard, and signed OTA—and it is also where Codex CLI ran. From June 22 through August 28, 2026, the local database collected 341,385 valid readings across 27 device IDs. A USB-connected test ESP32 validates the artifact before deployment. A separate Watchdog Pi checks PiServer through the router and can recover it through a GPIO-controlled power strip. AWS remains only as an outbound backup destination.</a:t>
            </a:r>
          </a:p>
          <a:p xmlns:a="http://schemas.openxmlformats.org/drawingml/2006/main">
            <a:r>
              <a:t/>
            </a:r>
          </a:p>
          <a:p xmlns:a="http://schemas.openxmlformats.org/drawingml/2006/main">
            <a:r>
              <a:t>[Sources]</a:t>
            </a:r>
          </a:p>
          <a:p xmlns:a="http://schemas.openxmlformats.org/drawingml/2006/main">
            <a:r>
              <a:t>- Generated architecture illustration based on the inspected current system and user corrections</a:t>
            </a:r>
          </a:p>
          <a:p xmlns:a="http://schemas.openxmlformats.org/drawingml/2006/main">
            <a:r>
              <a:t>- presentation_assets/current-system-esp32-to-piserver-v9.png</a:t>
            </a:r>
          </a:p>
          <a:p xmlns:a="http://schemas.openxmlformats.org/drawingml/2006/main">
            <a:r>
              <a:t>- Live read-only PiServer SQLite query on August 28, 2026; five invalid 1970 timestamps excluded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what I wanted from the beginning: gather sensor data and see it in a dashboard. The finished view now also reports post-reboot verification and watchdog activity. The product goal stayed simple; the partnership helped make the system behind it responsible.</a:t>
            </a:r>
          </a:p>
          <a:p xmlns:a="http://schemas.openxmlformats.org/drawingml/2006/main">
            <a:r>
              <a:t/>
            </a:r>
          </a:p>
          <a:p xmlns:a="http://schemas.openxmlformats.org/drawingml/2006/main">
            <a:r>
              <a:t>[Sources]</a:t>
            </a:r>
          </a:p>
          <a:p xmlns:a="http://schemas.openxmlformats.org/drawingml/2006/main">
            <a:r>
              <a:t>- User-provided PiServer dashboard screenshot, August 2026</a:t>
            </a:r>
          </a:p>
          <a:p xmlns:a="http://schemas.openxmlformats.org/drawingml/2006/main">
            <a:r>
              <a:t>- presentation_assets/dashboard-house-system-health.png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cloud system forced reporting frequency to become a cost decision. Here, the dashboard shows 4,556 selected readings in twenty-four hours. That resolution makes normal cycles, outliers, and sudden changes visible. Moving local lowered operational friction and increased what I could learn from the system.</a:t>
            </a:r>
          </a:p>
          <a:p xmlns:a="http://schemas.openxmlformats.org/drawingml/2006/main">
            <a:r>
              <a:t/>
            </a:r>
          </a:p>
          <a:p xmlns:a="http://schemas.openxmlformats.org/drawingml/2006/main">
            <a:r>
              <a:t>[Sources]</a:t>
            </a:r>
          </a:p>
          <a:p xmlns:a="http://schemas.openxmlformats.org/drawingml/2006/main">
            <a:r>
              <a:t>- User-provided PiServer dashboard screenshot, August 2026</a:t>
            </a:r>
          </a:p>
          <a:p xmlns:a="http://schemas.openxmlformats.org/drawingml/2006/main">
            <a:r>
              <a:t>- presentation_assets/dashboard-temperature-24h.png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and make the pivot explicit. The architecture proves the work happened. But the important change was not where the data was stored. It was that I stopped trying to personally perform every technical task and started managing the development of the product with an AI partner.</a:t>
            </a:r>
          </a:p>
          <a:p xmlns:a="http://schemas.openxmlformats.org/drawingml/2006/main">
            <a:r>
              <a:t/>
            </a:r>
          </a:p>
          <a:p xmlns:a="http://schemas.openxmlformats.org/drawingml/2006/main">
            <a:r>
              <a:t>[Sources]</a:t>
            </a:r>
          </a:p>
          <a:p xmlns:a="http://schemas.openxmlformats.org/drawingml/2006/main">
            <a:r>
              <a:t>- Generated human-AI partnership editorial image using built-in image generation</a:t>
            </a:r>
          </a:p>
          <a:p xmlns:a="http://schemas.openxmlformats.org/drawingml/2006/main">
            <a:r>
              <a:t>- User-approved presentation message</a:t>
            </a:r>
          </a:p>
          <a:p xmlns:a="http://schemas.openxmlformats.org/drawingml/2006/main">
            <a:r>
              <a:t>- Synthesis from the inspected modernization project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was not working from a pasted code fragment. It ran on the Raspberry Pi where the services, database, repository, and device telemetry lived. That gave it something essential for responsible modernization: context. It could compare what the code claimed, what the documentation remembered, and what the system was actually doing.</a:t>
            </a:r>
          </a:p>
          <a:p xmlns:a="http://schemas.openxmlformats.org/drawingml/2006/main">
            <a:r>
              <a:t/>
            </a:r>
          </a:p>
          <a:p xmlns:a="http://schemas.openxmlformats.org/drawingml/2006/main">
            <a:r>
              <a:t>[Sources]</a:t>
            </a:r>
          </a:p>
          <a:p xmlns:a="http://schemas.openxmlformats.org/drawingml/2006/main">
            <a:r>
              <a:t>- Read-only inspection of /home/scotty/IoT and running PiServer services</a:t>
            </a:r>
          </a:p>
          <a:p xmlns:a="http://schemas.openxmlformats.org/drawingml/2006/main">
            <a:r>
              <a:t>- Codex session and rollout records on the Pi</a:t>
            </a:r>
          </a:p>
          <a:p xmlns:a="http://schemas.openxmlformats.org/drawingml/2006/main">
            <a:r>
              <a:t>- presentation_assets/current-system-esp32-to-piserver-v9.png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did not become the developer, infrastructure specialist, tester, technical writer, and operations engineer for every part of the system. I managed the product: the problem, desired outcome, priorities, physical reality, risk, and approval. Codex carried much of the technical execution and context between those decisions.</a:t>
            </a:r>
          </a:p>
          <a:p xmlns:a="http://schemas.openxmlformats.org/drawingml/2006/main">
            <a:r>
              <a:t/>
            </a:r>
          </a:p>
          <a:p xmlns:a="http://schemas.openxmlformats.org/drawingml/2006/main">
            <a:r>
              <a:t>[Sources]</a:t>
            </a:r>
          </a:p>
          <a:p xmlns:a="http://schemas.openxmlformats.org/drawingml/2006/main">
            <a:r>
              <a:t>- Representative Codex session and rollout records</a:t>
            </a:r>
          </a:p>
          <a:p xmlns:a="http://schemas.openxmlformats.org/drawingml/2006/main">
            <a:r>
              <a:t>- IOT_MODERNIZATION_TALK_RESEARCH.md: human versus Codex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did more than execute a specification. It proposed ideas, compared code with telemetry, identified problems I had not named, and helped turn them into safeguards. The dashboard now tracks signal strength, sequence numbers, stability, sensor errors, and last-seen time—not just temperature and humidity.</a:t>
            </a:r>
          </a:p>
          <a:p xmlns:a="http://schemas.openxmlformats.org/drawingml/2006/main">
            <a:r>
              <a:t/>
            </a:r>
          </a:p>
          <a:p xmlns:a="http://schemas.openxmlformats.org/drawingml/2006/main">
            <a:r>
              <a:t>[Sources]</a:t>
            </a:r>
          </a:p>
          <a:p xmlns:a="http://schemas.openxmlformats.org/drawingml/2006/main">
            <a:r>
              <a:t>- User-provided PiServer dashboard screenshot, August 2026</a:t>
            </a:r>
          </a:p>
          <a:p xmlns:a="http://schemas.openxmlformats.org/drawingml/2006/main">
            <a:r>
              <a:t>- presentation_assets/dashboard-latest-readings.png</a:t>
            </a:r>
          </a:p>
          <a:p xmlns:a="http://schemas.openxmlformats.org/drawingml/2006/main">
            <a:r>
              <a:t>- docs/decision-record.md and rollout records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opportunity is larger than code generation. Use AI to learn unfamiliar domains, compare options, build experiments, configure systems, test behavior, document decisions, troubleshoot failures, monitor operations, and sustain what you created.</a:t>
            </a:r>
          </a:p>
          <a:p xmlns:a="http://schemas.openxmlformats.org/drawingml/2006/main">
            <a:r>
              <a:t/>
            </a:r>
          </a:p>
          <a:p xmlns:a="http://schemas.openxmlformats.org/drawingml/2006/main">
            <a:r>
              <a:t>[Sources]</a:t>
            </a:r>
          </a:p>
          <a:p xmlns:a="http://schemas.openxmlformats.org/drawingml/2006/main">
            <a:r>
              <a:t>- Generated product-lifecycle editorial image using built-in image generation</a:t>
            </a:r>
          </a:p>
          <a:p xmlns:a="http://schemas.openxmlformats.org/drawingml/2006/main">
            <a:r>
              <a:t>- Synthesis of repository decisions, tests, documentation, telemetry analysis, and Codex rollout records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Bring a problem worth solving. Start before you know every technical step. Use AI to experiment and learn. Ask it for alternatives, missing requirements, and risks—not only implementation. And remain responsible for the outcome. AI expands capability; it does not make purpose or judgment optional.</a:t>
            </a:r>
          </a:p>
          <a:p xmlns:a="http://schemas.openxmlformats.org/drawingml/2006/main">
            <a:r>
              <a:t/>
            </a:r>
          </a:p>
          <a:p xmlns:a="http://schemas.openxmlformats.org/drawingml/2006/main">
            <a:r>
              <a:t>[Sources]</a:t>
            </a:r>
          </a:p>
          <a:p xmlns:a="http://schemas.openxmlformats.org/drawingml/2006/main">
            <a:r>
              <a:t>- User-approved team message</a:t>
            </a:r>
          </a:p>
          <a:p xmlns:a="http://schemas.openxmlformats.org/drawingml/2006/main">
            <a:r>
              <a:t>- Synthesis from the IoT modernization evidence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an invitation, not a summary. Think of one useful problem you have postponed because you lacked the time, skills, or technical support. Describe the outcome to AI. Build a small experiment. Ask questions. Let it teach you. See what becomes possible—and keep responsibility for deciding what should become real.</a:t>
            </a:r>
          </a:p>
          <a:p xmlns:a="http://schemas.openxmlformats.org/drawingml/2006/main">
            <a:r>
              <a:t/>
            </a:r>
          </a:p>
          <a:p xmlns:a="http://schemas.openxmlformats.org/drawingml/2006/main">
            <a:r>
              <a:t>[Sources]</a:t>
            </a:r>
          </a:p>
          <a:p xmlns:a="http://schemas.openxmlformats.org/drawingml/2006/main">
            <a:r>
              <a:t>- Generated closing editorial image using built-in image generation</a:t>
            </a:r>
          </a:p>
          <a:p xmlns:a="http://schemas.openxmlformats.org/drawingml/2006/main">
            <a:r>
              <a:t>- User-approved team message and closing invitation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555fad61cf4a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4cf701995a4eec" /><Relationship Type="http://schemas.openxmlformats.org/officeDocument/2006/relationships/slideLayout" Target="/ppt/slideLayouts/slideLayout1.xml" Id="Rd88979cf997b4c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8979cf997b4c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538688d4d44b8e" /><Relationship Type="http://schemas.openxmlformats.org/officeDocument/2006/relationships/image" Target="/ppt/media/image.png" Id="R0c5ee16210594f9d" /><Relationship Type="http://schemas.openxmlformats.org/officeDocument/2006/relationships/notesSlide" Target="/ppt/notesSlides/notesSlide1.xml" Id="Rb7e87a1295f849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42a13065704009" /><Relationship Type="http://schemas.openxmlformats.org/officeDocument/2006/relationships/notesSlide" Target="/ppt/notesSlides/notesSlide2.xml" Id="Rf4e67c0e5feb4e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d7782a96e846e4" /><Relationship Type="http://schemas.openxmlformats.org/officeDocument/2006/relationships/notesSlide" Target="/ppt/notesSlides/notesSlide3.xml" Id="Re198c999c48e49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afda47ad614260" /><Relationship Type="http://schemas.openxmlformats.org/officeDocument/2006/relationships/image" Target="/ppt/media/image2.png" Id="R4339a5bdbe884b55" /><Relationship Type="http://schemas.openxmlformats.org/officeDocument/2006/relationships/notesSlide" Target="/ppt/notesSlides/notesSlide4.xml" Id="Rdb37e641eabb43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3eff7997854804" /><Relationship Type="http://schemas.openxmlformats.org/officeDocument/2006/relationships/image" Target="/ppt/media/image3.png" Id="R18acc49f67ea4b6d" /><Relationship Type="http://schemas.openxmlformats.org/officeDocument/2006/relationships/notesSlide" Target="/ppt/notesSlides/notesSlide5.xml" Id="Re4e12fd815d64c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7e2960877544eb" /><Relationship Type="http://schemas.openxmlformats.org/officeDocument/2006/relationships/image" Target="/ppt/media/image4.png" Id="R7e1de744e4834cc5" /><Relationship Type="http://schemas.openxmlformats.org/officeDocument/2006/relationships/notesSlide" Target="/ppt/notesSlides/notesSlide6.xml" Id="R704ad29079d148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2042a5034e460c" /><Relationship Type="http://schemas.openxmlformats.org/officeDocument/2006/relationships/image" Target="/ppt/media/image5.png" Id="Rae6c5bda289f4923" /><Relationship Type="http://schemas.openxmlformats.org/officeDocument/2006/relationships/notesSlide" Target="/ppt/notesSlides/notesSlide7.xml" Id="R1b11f8c5033e44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2a20bbf0ad4200" /><Relationship Type="http://schemas.openxmlformats.org/officeDocument/2006/relationships/image" Target="/ppt/media/image6.png" Id="Ref78a524d8f54f6e" /><Relationship Type="http://schemas.openxmlformats.org/officeDocument/2006/relationships/notesSlide" Target="/ppt/notesSlides/notesSlide8.xml" Id="R93822292375c47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f71da0bba54819" /><Relationship Type="http://schemas.openxmlformats.org/officeDocument/2006/relationships/image" Target="/ppt/media/image7.png" Id="Rab3956dc671d4ac2" /><Relationship Type="http://schemas.openxmlformats.org/officeDocument/2006/relationships/notesSlide" Target="/ppt/notesSlides/notesSlide9.xml" Id="R1edc3aad7de142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fd8915e2ed488a" /><Relationship Type="http://schemas.openxmlformats.org/officeDocument/2006/relationships/image" Target="/ppt/media/image8.png" Id="R65a35cff876b4e8c" /><Relationship Type="http://schemas.openxmlformats.org/officeDocument/2006/relationships/notesSlide" Target="/ppt/notesSlides/notesSlide10.xml" Id="R3c8810f90edb44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6f2620a5bb40de" /><Relationship Type="http://schemas.openxmlformats.org/officeDocument/2006/relationships/notesSlide" Target="/ppt/notesSlides/notesSlide11.xml" Id="R6f139706935d45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9626789d604e94" /><Relationship Type="http://schemas.openxmlformats.org/officeDocument/2006/relationships/image" Target="/ppt/media/image9.png" Id="R803e62cdc32f4803" /><Relationship Type="http://schemas.openxmlformats.org/officeDocument/2006/relationships/notesSlide" Target="/ppt/notesSlides/notesSlide12.xml" Id="Ra52f589dcf1c4d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44bb8904074729" /><Relationship Type="http://schemas.openxmlformats.org/officeDocument/2006/relationships/image" Target="/ppt/media/image10.png" Id="Rc914c41c14ea4184" /><Relationship Type="http://schemas.openxmlformats.org/officeDocument/2006/relationships/notesSlide" Target="/ppt/notesSlides/notesSlide13.xml" Id="R2db4a9ebe85c4f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595cb8b1f6416e" /><Relationship Type="http://schemas.openxmlformats.org/officeDocument/2006/relationships/notesSlide" Target="/ppt/notesSlides/notesSlide14.xml" Id="R514f28dbd5be46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fc0e4dec814bf6" /><Relationship Type="http://schemas.openxmlformats.org/officeDocument/2006/relationships/image" Target="/ppt/media/image11.png" Id="R5500e01a204b4255" /><Relationship Type="http://schemas.openxmlformats.org/officeDocument/2006/relationships/notesSlide" Target="/ppt/notesSlides/notesSlide15.xml" Id="R8f75102dcec14574"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c5ee16210594f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field">
            <a:extLst xmlns:a="http://schemas.openxmlformats.org/drawingml/2006/main">
              <a:ext uri="{FF2B5EF4-FFF2-40B4-BE49-F238E27FC236}">
                <a16:creationId xmlns:a16="http://schemas.microsoft.com/office/drawing/2014/main" id="{CC485967-379E-4095-A15C-390818CD7F03}"/>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2A674CD-DC46-4F55-9A26-04FC4CA28184}"/>
              </a:ext>
            </a:extLst>
          </p:cNvPr>
          <p:cNvSpPr>
            <a:spLocks xmlns:a="http://schemas.openxmlformats.org/drawingml/2006/main" noGrp="1"/>
          </p:cNvSpPr>
          <p:nvPr/>
        </p:nvSpPr>
        <p:spPr>
          <a:xfrm xmlns:a="http://schemas.openxmlformats.org/drawingml/2006/main">
            <a:off x="533400" y="5143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2D583"/>
                </a:solidFill>
                <a:latin typeface="Aptos"/>
                <a:ea typeface="Aptos"/>
                <a:cs typeface="Aptos"/>
              </a:defRPr>
            </a:pPr>
            <a:r>
              <a:rPr sz="1125" b="1">
                <a:solidFill>
                  <a:srgbClr val="32D583"/>
                </a:solidFill>
                <a:latin typeface="Aptos"/>
                <a:ea typeface="Aptos"/>
                <a:cs typeface="Aptos"/>
              </a:rPr>
              <a:t>DEMO DAY  •  AUGUST 31, 2026</a:t>
            </a:r>
          </a:p>
        </p:txBody>
      </p:sp>
      <p:sp>
        <p:nvSpPr>
          <p:cNvPr id="4" name="">
            <a:extLst xmlns:a="http://schemas.openxmlformats.org/drawingml/2006/main">
              <a:ext uri="{FF2B5EF4-FFF2-40B4-BE49-F238E27FC236}">
                <a16:creationId xmlns:a16="http://schemas.microsoft.com/office/drawing/2014/main" id="{F7D84DA0-4937-4CA8-9AD4-62D18A43BAF4}"/>
              </a:ext>
            </a:extLst>
          </p:cNvPr>
          <p:cNvSpPr>
            <a:spLocks xmlns:a="http://schemas.openxmlformats.org/drawingml/2006/main" noGrp="1"/>
          </p:cNvSpPr>
          <p:nvPr/>
        </p:nvSpPr>
        <p:spPr>
          <a:xfrm xmlns:a="http://schemas.openxmlformats.org/drawingml/2006/main">
            <a:off x="514350" y="1571625"/>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5000"/>
              </a:lnSpc>
              <a:buNone/>
              <a:defRPr sz="4275" b="1">
                <a:solidFill>
                  <a:srgbClr val="FFFFFF"/>
                </a:solidFill>
                <a:latin typeface="Aptos"/>
                <a:ea typeface="Aptos"/>
                <a:cs typeface="Aptos"/>
              </a:defRPr>
            </a:pPr>
            <a:r>
              <a:rPr sz="4275" b="1">
                <a:solidFill>
                  <a:srgbClr val="FFFFFF"/>
                </a:solidFill>
                <a:latin typeface="Aptos"/>
                <a:ea typeface="Aptos"/>
                <a:cs typeface="Aptos"/>
              </a:rPr>
              <a:t>What changed</a:t>
            </a:r>
          </a:p>
          <a:p xmlns:a="http://schemas.openxmlformats.org/drawingml/2006/main">
            <a:pPr algn="l">
              <a:lnSpc>
                <a:spcPct val="95000"/>
              </a:lnSpc>
              <a:buNone/>
              <a:defRPr sz="4275" b="1">
                <a:solidFill>
                  <a:srgbClr val="FFFFFF"/>
                </a:solidFill>
                <a:latin typeface="Aptos"/>
                <a:ea typeface="Aptos"/>
                <a:cs typeface="Aptos"/>
              </a:defRPr>
            </a:pPr>
            <a:r>
              <a:rPr sz="4275" b="1">
                <a:solidFill>
                  <a:srgbClr val="FFFFFF"/>
                </a:solidFill>
                <a:latin typeface="Aptos"/>
                <a:ea typeface="Aptos"/>
                <a:cs typeface="Aptos"/>
              </a:rPr>
              <a:t>when AI joined</a:t>
            </a:r>
          </a:p>
          <a:p xmlns:a="http://schemas.openxmlformats.org/drawingml/2006/main">
            <a:pPr algn="l">
              <a:lnSpc>
                <a:spcPct val="95000"/>
              </a:lnSpc>
              <a:buNone/>
              <a:defRPr sz="4275" b="1">
                <a:solidFill>
                  <a:srgbClr val="FFFFFF"/>
                </a:solidFill>
                <a:latin typeface="Aptos"/>
                <a:ea typeface="Aptos"/>
                <a:cs typeface="Aptos"/>
              </a:defRPr>
            </a:pPr>
            <a:r>
              <a:rPr sz="4275" b="1">
                <a:solidFill>
                  <a:srgbClr val="FFFFFF"/>
                </a:solidFill>
                <a:latin typeface="Aptos"/>
                <a:ea typeface="Aptos"/>
                <a:cs typeface="Aptos"/>
              </a:rPr>
              <a:t>the project</a:t>
            </a:r>
          </a:p>
        </p:txBody>
      </p:sp>
      <p:sp>
        <p:nvSpPr>
          <p:cNvPr id="5" name="">
            <a:extLst xmlns:a="http://schemas.openxmlformats.org/drawingml/2006/main">
              <a:ext uri="{FF2B5EF4-FFF2-40B4-BE49-F238E27FC236}">
                <a16:creationId xmlns:a16="http://schemas.microsoft.com/office/drawing/2014/main" id="{F6DD8F6E-97DD-4327-8BF5-D429B7877E86}"/>
              </a:ext>
            </a:extLst>
          </p:cNvPr>
          <p:cNvSpPr>
            <a:spLocks xmlns:a="http://schemas.openxmlformats.org/drawingml/2006/main" noGrp="1"/>
          </p:cNvSpPr>
          <p:nvPr/>
        </p:nvSpPr>
        <p:spPr>
          <a:xfrm xmlns:a="http://schemas.openxmlformats.org/drawingml/2006/main">
            <a:off x="552450" y="5095875"/>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F7F2E8"/>
                </a:solidFill>
                <a:latin typeface="Aptos"/>
                <a:ea typeface="Aptos"/>
                <a:cs typeface="Aptos"/>
              </a:defRPr>
            </a:pPr>
            <a:r>
              <a:rPr sz="1725" b="0">
                <a:solidFill>
                  <a:srgbClr val="F7F2E8"/>
                </a:solidFill>
                <a:latin typeface="Aptos"/>
                <a:ea typeface="Aptos"/>
                <a:cs typeface="Aptos"/>
              </a:rPr>
              <a:t>A stalled IoT project—and a practical lesson for our team</a:t>
            </a:r>
          </a:p>
        </p:txBody>
      </p:sp>
      <p:sp>
        <p:nvSpPr>
          <p:cNvPr id="6" name="">
            <a:extLst xmlns:a="http://schemas.openxmlformats.org/drawingml/2006/main">
              <a:ext uri="{FF2B5EF4-FFF2-40B4-BE49-F238E27FC236}">
                <a16:creationId xmlns:a16="http://schemas.microsoft.com/office/drawing/2014/main" id="{F629A5F2-8202-4665-9A7C-D20E6A2AB88E}"/>
              </a:ext>
            </a:extLst>
          </p:cNvPr>
          <p:cNvSpPr>
            <a:spLocks xmlns:a="http://schemas.openxmlformats.org/drawingml/2006/main" noGrp="1"/>
          </p:cNvSpPr>
          <p:nvPr/>
        </p:nvSpPr>
        <p:spPr>
          <a:xfrm xmlns:a="http://schemas.openxmlformats.org/drawingml/2006/main">
            <a:off x="552450" y="6057900"/>
            <a:ext cx="1466850" cy="5715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Tree>
    <p:extLst>
      <p:ext uri="{BB962C8B-B14F-4D97-AF65-F5344CB8AC3E}">
        <p14:creationId xmlns:p14="http://schemas.microsoft.com/office/powerpoint/2010/main" val="1802401700"/>
      </p:ext>
    </p:extLst>
  </p:cSld>
</p:sld>
</file>

<file path=ppt/slides/slide2.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3" name="eyebrow-mark">
            <a:extLst xmlns:a="http://schemas.openxmlformats.org/drawingml/2006/main">
              <a:ext uri="{FF2B5EF4-FFF2-40B4-BE49-F238E27FC236}">
                <a16:creationId xmlns:a16="http://schemas.microsoft.com/office/drawing/2014/main" id="{0F0EA775-2C92-4F19-8D87-EDD30432CAD0}"/>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29CF6A40-43FE-4A06-8E88-66D5447B39D9}"/>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ptos"/>
                <a:ea typeface="Aptos"/>
                <a:cs typeface="Aptos"/>
              </a:defRPr>
            </a:pPr>
            <a:r>
              <a:rPr sz="1125" b="1">
                <a:solidFill>
                  <a:srgbClr val="F59E0B"/>
                </a:solidFill>
                <a:latin typeface="Aptos"/>
                <a:ea typeface="Aptos"/>
                <a:cs typeface="Aptos"/>
              </a:rPr>
              <a:t>THE IDEA</a:t>
            </a:r>
          </a:p>
        </p:txBody>
      </p:sp>
      <p:sp>
        <p:nvSpPr>
          <p:cNvPr id="3" name="">
            <a:extLst xmlns:a="http://schemas.openxmlformats.org/drawingml/2006/main">
              <a:ext uri="{FF2B5EF4-FFF2-40B4-BE49-F238E27FC236}">
                <a16:creationId xmlns:a16="http://schemas.microsoft.com/office/drawing/2014/main" id="{C49F1E61-234D-4CA1-869E-414C2777A8B5}"/>
              </a:ext>
            </a:extLst>
          </p:cNvPr>
          <p:cNvSpPr>
            <a:spLocks xmlns:a="http://schemas.openxmlformats.org/drawingml/2006/main" noGrp="1"/>
          </p:cNvSpPr>
          <p:nvPr/>
        </p:nvSpPr>
        <p:spPr>
          <a:xfrm xmlns:a="http://schemas.openxmlformats.org/drawingml/2006/main">
            <a:off x="533400" y="1619250"/>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F59E0B"/>
                </a:solidFill>
                <a:latin typeface="Aptos"/>
                <a:ea typeface="Aptos"/>
                <a:cs typeface="Aptos"/>
              </a:defRPr>
            </a:pPr>
            <a:r>
              <a:rPr sz="4950" b="1">
                <a:solidFill>
                  <a:srgbClr val="F59E0B"/>
                </a:solidFill>
                <a:latin typeface="Aptos"/>
                <a:ea typeface="Aptos"/>
                <a:cs typeface="Aptos"/>
              </a:rPr>
              <a:t>GATHER</a:t>
            </a:r>
          </a:p>
        </p:txBody>
      </p:sp>
      <p:sp>
        <p:nvSpPr>
          <p:cNvPr id="4" name="">
            <a:extLst xmlns:a="http://schemas.openxmlformats.org/drawingml/2006/main">
              <a:ext uri="{FF2B5EF4-FFF2-40B4-BE49-F238E27FC236}">
                <a16:creationId xmlns:a16="http://schemas.microsoft.com/office/drawing/2014/main" id="{5937C683-5C73-4BC9-BA78-31EC528D6BA3}"/>
              </a:ext>
            </a:extLst>
          </p:cNvPr>
          <p:cNvSpPr>
            <a:spLocks xmlns:a="http://schemas.openxmlformats.org/drawingml/2006/main" noGrp="1"/>
          </p:cNvSpPr>
          <p:nvPr/>
        </p:nvSpPr>
        <p:spPr>
          <a:xfrm xmlns:a="http://schemas.openxmlformats.org/drawingml/2006/main">
            <a:off x="571500" y="23812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F7F2E8"/>
                </a:solidFill>
                <a:latin typeface="Aptos"/>
                <a:ea typeface="Aptos"/>
                <a:cs typeface="Aptos"/>
              </a:defRPr>
            </a:pPr>
            <a:r>
              <a:rPr sz="1950" b="0">
                <a:solidFill>
                  <a:srgbClr val="F7F2E8"/>
                </a:solidFill>
                <a:latin typeface="Aptos"/>
                <a:ea typeface="Aptos"/>
                <a:cs typeface="Aptos"/>
              </a:rPr>
              <a:t>sensor data</a:t>
            </a:r>
          </a:p>
        </p:txBody>
      </p:sp>
      <p:sp>
        <p:nvSpPr>
          <p:cNvPr id="5" name="">
            <a:extLst xmlns:a="http://schemas.openxmlformats.org/drawingml/2006/main">
              <a:ext uri="{FF2B5EF4-FFF2-40B4-BE49-F238E27FC236}">
                <a16:creationId xmlns:a16="http://schemas.microsoft.com/office/drawing/2014/main" id="{9D7C4C0D-02ED-44D0-9CCF-4E01C30D95E8}"/>
              </a:ext>
            </a:extLst>
          </p:cNvPr>
          <p:cNvSpPr>
            <a:spLocks xmlns:a="http://schemas.openxmlformats.org/drawingml/2006/main" noGrp="1"/>
          </p:cNvSpPr>
          <p:nvPr/>
        </p:nvSpPr>
        <p:spPr>
          <a:xfrm xmlns:a="http://schemas.openxmlformats.org/drawingml/2006/main">
            <a:off x="4429125" y="1619250"/>
            <a:ext cx="228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4F8BFF"/>
                </a:solidFill>
                <a:latin typeface="Aptos"/>
                <a:ea typeface="Aptos"/>
                <a:cs typeface="Aptos"/>
              </a:defRPr>
            </a:pPr>
            <a:r>
              <a:rPr sz="4950" b="1">
                <a:solidFill>
                  <a:srgbClr val="4F8BFF"/>
                </a:solidFill>
                <a:latin typeface="Aptos"/>
                <a:ea typeface="Aptos"/>
                <a:cs typeface="Aptos"/>
              </a:rPr>
              <a:t>SEE</a:t>
            </a:r>
          </a:p>
        </p:txBody>
      </p:sp>
      <p:sp>
        <p:nvSpPr>
          <p:cNvPr id="6" name="">
            <a:extLst xmlns:a="http://schemas.openxmlformats.org/drawingml/2006/main">
              <a:ext uri="{FF2B5EF4-FFF2-40B4-BE49-F238E27FC236}">
                <a16:creationId xmlns:a16="http://schemas.microsoft.com/office/drawing/2014/main" id="{874E582D-11CA-435D-88E5-2F0E25D5FB3C}"/>
              </a:ext>
            </a:extLst>
          </p:cNvPr>
          <p:cNvSpPr>
            <a:spLocks xmlns:a="http://schemas.openxmlformats.org/drawingml/2006/main" noGrp="1"/>
          </p:cNvSpPr>
          <p:nvPr/>
        </p:nvSpPr>
        <p:spPr>
          <a:xfrm xmlns:a="http://schemas.openxmlformats.org/drawingml/2006/main">
            <a:off x="4467225" y="23812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F7F2E8"/>
                </a:solidFill>
                <a:latin typeface="Aptos"/>
                <a:ea typeface="Aptos"/>
                <a:cs typeface="Aptos"/>
              </a:defRPr>
            </a:pPr>
            <a:r>
              <a:rPr sz="1950" b="0">
                <a:solidFill>
                  <a:srgbClr val="F7F2E8"/>
                </a:solidFill>
                <a:latin typeface="Aptos"/>
                <a:ea typeface="Aptos"/>
                <a:cs typeface="Aptos"/>
              </a:rPr>
              <a:t>the history</a:t>
            </a:r>
          </a:p>
        </p:txBody>
      </p:sp>
      <p:sp>
        <p:nvSpPr>
          <p:cNvPr id="7" name="">
            <a:extLst xmlns:a="http://schemas.openxmlformats.org/drawingml/2006/main">
              <a:ext uri="{FF2B5EF4-FFF2-40B4-BE49-F238E27FC236}">
                <a16:creationId xmlns:a16="http://schemas.microsoft.com/office/drawing/2014/main" id="{27DED92D-707D-4BF7-BF4D-7BE4C8C24F17}"/>
              </a:ext>
            </a:extLst>
          </p:cNvPr>
          <p:cNvSpPr>
            <a:spLocks xmlns:a="http://schemas.openxmlformats.org/drawingml/2006/main" noGrp="1"/>
          </p:cNvSpPr>
          <p:nvPr/>
        </p:nvSpPr>
        <p:spPr>
          <a:xfrm xmlns:a="http://schemas.openxmlformats.org/drawingml/2006/main">
            <a:off x="7953375" y="1619250"/>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32D583"/>
                </a:solidFill>
                <a:latin typeface="Aptos"/>
                <a:ea typeface="Aptos"/>
                <a:cs typeface="Aptos"/>
              </a:defRPr>
            </a:pPr>
            <a:r>
              <a:rPr sz="4950" b="1">
                <a:solidFill>
                  <a:srgbClr val="32D583"/>
                </a:solidFill>
                <a:latin typeface="Aptos"/>
                <a:ea typeface="Aptos"/>
                <a:cs typeface="Aptos"/>
              </a:rPr>
              <a:t>LEARN</a:t>
            </a:r>
          </a:p>
        </p:txBody>
      </p:sp>
      <p:sp>
        <p:nvSpPr>
          <p:cNvPr id="8" name="">
            <a:extLst xmlns:a="http://schemas.openxmlformats.org/drawingml/2006/main">
              <a:ext uri="{FF2B5EF4-FFF2-40B4-BE49-F238E27FC236}">
                <a16:creationId xmlns:a16="http://schemas.microsoft.com/office/drawing/2014/main" id="{D08C35C1-FB03-46DF-A64B-39177A7BD222}"/>
              </a:ext>
            </a:extLst>
          </p:cNvPr>
          <p:cNvSpPr>
            <a:spLocks xmlns:a="http://schemas.openxmlformats.org/drawingml/2006/main" noGrp="1"/>
          </p:cNvSpPr>
          <p:nvPr/>
        </p:nvSpPr>
        <p:spPr>
          <a:xfrm xmlns:a="http://schemas.openxmlformats.org/drawingml/2006/main">
            <a:off x="7991475" y="2381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F7F2E8"/>
                </a:solidFill>
                <a:latin typeface="Aptos"/>
                <a:ea typeface="Aptos"/>
                <a:cs typeface="Aptos"/>
              </a:defRPr>
            </a:pPr>
            <a:r>
              <a:rPr sz="1950" b="0">
                <a:solidFill>
                  <a:srgbClr val="F7F2E8"/>
                </a:solidFill>
                <a:latin typeface="Aptos"/>
                <a:ea typeface="Aptos"/>
                <a:cs typeface="Aptos"/>
              </a:rPr>
              <a:t>from the property</a:t>
            </a:r>
          </a:p>
        </p:txBody>
      </p:sp>
      <p:sp>
        <p:nvSpPr>
          <p:cNvPr id="9" name="">
            <a:extLst xmlns:a="http://schemas.openxmlformats.org/drawingml/2006/main">
              <a:ext uri="{FF2B5EF4-FFF2-40B4-BE49-F238E27FC236}">
                <a16:creationId xmlns:a16="http://schemas.microsoft.com/office/drawing/2014/main" id="{9299286E-1AF8-4520-B97F-674B63D9911A}"/>
              </a:ext>
            </a:extLst>
          </p:cNvPr>
          <p:cNvSpPr>
            <a:spLocks xmlns:a="http://schemas.openxmlformats.org/drawingml/2006/main" noGrp="1"/>
          </p:cNvSpPr>
          <p:nvPr/>
        </p:nvSpPr>
        <p:spPr>
          <a:xfrm xmlns:a="http://schemas.openxmlformats.org/drawingml/2006/main">
            <a:off x="533400" y="3562350"/>
            <a:ext cx="10706100" cy="28575"/>
          </a:xfrm>
          <a:prstGeom xmlns:a="http://schemas.openxmlformats.org/drawingml/2006/main" prst="rect">
            <a:avLst/>
          </a:prstGeom>
          <a:solidFill xmlns:a="http://schemas.openxmlformats.org/drawingml/2006/main">
            <a:srgbClr val="5869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EBE18D-6BB0-4477-88CE-13E9DEF7BBF4}"/>
              </a:ext>
            </a:extLst>
          </p:cNvPr>
          <p:cNvSpPr>
            <a:spLocks xmlns:a="http://schemas.openxmlformats.org/drawingml/2006/main" noGrp="1"/>
          </p:cNvSpPr>
          <p:nvPr/>
        </p:nvSpPr>
        <p:spPr>
          <a:xfrm xmlns:a="http://schemas.openxmlformats.org/drawingml/2006/main">
            <a:off x="533400" y="40005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Temperature and humidity across about twenty devices—preserved in one useful dashboard.</a:t>
            </a:r>
          </a:p>
        </p:txBody>
      </p:sp>
      <p:sp>
        <p:nvSpPr>
          <p:cNvPr id="11" name="">
            <a:extLst xmlns:a="http://schemas.openxmlformats.org/drawingml/2006/main">
              <a:ext uri="{FF2B5EF4-FFF2-40B4-BE49-F238E27FC236}">
                <a16:creationId xmlns:a16="http://schemas.microsoft.com/office/drawing/2014/main" id="{7AF032DB-D2C2-4466-A23D-A141558A0037}"/>
              </a:ext>
            </a:extLst>
          </p:cNvPr>
          <p:cNvSpPr>
            <a:spLocks xmlns:a="http://schemas.openxmlformats.org/drawingml/2006/main" noGrp="1"/>
          </p:cNvSpPr>
          <p:nvPr/>
        </p:nvSpPr>
        <p:spPr>
          <a:xfrm xmlns:a="http://schemas.openxmlformats.org/drawingml/2006/main">
            <a:off x="533400" y="56197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32D583"/>
                </a:solidFill>
                <a:latin typeface="Aptos"/>
                <a:ea typeface="Aptos"/>
                <a:cs typeface="Aptos"/>
              </a:defRPr>
            </a:pPr>
            <a:r>
              <a:rPr sz="1650" b="0">
                <a:solidFill>
                  <a:srgbClr val="32D583"/>
                </a:solidFill>
                <a:latin typeface="Aptos"/>
                <a:ea typeface="Aptos"/>
                <a:cs typeface="Aptos"/>
              </a:rPr>
              <a:t>The idea was simple enough to survive nine years.</a:t>
            </a:r>
          </a:p>
        </p:txBody>
      </p:sp>
      <p:sp>
        <p:nvSpPr>
          <p:cNvPr id="12" name="page-number">
            <a:extLst xmlns:a="http://schemas.openxmlformats.org/drawingml/2006/main">
              <a:ext uri="{FF2B5EF4-FFF2-40B4-BE49-F238E27FC236}">
                <a16:creationId xmlns:a16="http://schemas.microsoft.com/office/drawing/2014/main" id="{7B53F35C-D44F-4B1D-8C7E-416679C02558}"/>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2</a:t>
            </a:r>
          </a:p>
        </p:txBody>
      </p:sp>
    </p:spTree>
    <p:extLst>
      <p:ext uri="{BB962C8B-B14F-4D97-AF65-F5344CB8AC3E}">
        <p14:creationId xmlns:p14="http://schemas.microsoft.com/office/powerpoint/2010/main" val="1747421748"/>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9" name="eyebrow-mark">
            <a:extLst xmlns:a="http://schemas.openxmlformats.org/drawingml/2006/main">
              <a:ext uri="{FF2B5EF4-FFF2-40B4-BE49-F238E27FC236}">
                <a16:creationId xmlns:a16="http://schemas.microsoft.com/office/drawing/2014/main" id="{C3E3F790-BBBA-4A8E-B1AA-BAEB2CF60659}"/>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CEFF6FF-09B9-42BC-B2A6-B7E29D859B45}"/>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E43145"/>
                </a:solidFill>
                <a:latin typeface="Aptos"/>
                <a:ea typeface="Aptos"/>
                <a:cs typeface="Aptos"/>
              </a:defRPr>
            </a:pPr>
            <a:r>
              <a:rPr sz="1125" b="1">
                <a:solidFill>
                  <a:srgbClr val="E43145"/>
                </a:solidFill>
                <a:latin typeface="Aptos"/>
                <a:ea typeface="Aptos"/>
                <a:cs typeface="Aptos"/>
              </a:rPr>
              <a:t>PROJECT BACKGROUND</a:t>
            </a:r>
          </a:p>
        </p:txBody>
      </p:sp>
      <p:sp>
        <p:nvSpPr>
          <p:cNvPr id="3" name="slide-title">
            <a:extLst xmlns:a="http://schemas.openxmlformats.org/drawingml/2006/main">
              <a:ext uri="{FF2B5EF4-FFF2-40B4-BE49-F238E27FC236}">
                <a16:creationId xmlns:a16="http://schemas.microsoft.com/office/drawing/2014/main" id="{498300D3-41BB-4631-A85F-7E6EA8AA4219}"/>
              </a:ext>
            </a:extLst>
          </p:cNvPr>
          <p:cNvSpPr>
            <a:spLocks xmlns:a="http://schemas.openxmlformats.org/drawingml/2006/main" noGrp="1"/>
          </p:cNvSpPr>
          <p:nvPr/>
        </p:nvSpPr>
        <p:spPr>
          <a:xfrm xmlns:a="http://schemas.openxmlformats.org/drawingml/2006/main">
            <a:off x="514350" y="742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0202F"/>
                </a:solidFill>
                <a:latin typeface="Aptos"/>
                <a:ea typeface="Aptos"/>
                <a:cs typeface="Aptos"/>
              </a:defRPr>
            </a:pPr>
            <a:r>
              <a:rPr sz="3150" b="1">
                <a:solidFill>
                  <a:srgbClr val="10202F"/>
                </a:solidFill>
                <a:latin typeface="Aptos"/>
                <a:ea typeface="Aptos"/>
                <a:cs typeface="Aptos"/>
              </a:rPr>
              <a:t>Nine years came before the first prompt.</a:t>
            </a:r>
          </a:p>
        </p:txBody>
      </p:sp>
      <p:sp>
        <p:nvSpPr>
          <p:cNvPr id="4" name="">
            <a:extLst xmlns:a="http://schemas.openxmlformats.org/drawingml/2006/main">
              <a:ext uri="{FF2B5EF4-FFF2-40B4-BE49-F238E27FC236}">
                <a16:creationId xmlns:a16="http://schemas.microsoft.com/office/drawing/2014/main" id="{31D9DC1F-B4AF-49F5-8189-803CB0F7DC89}"/>
              </a:ext>
            </a:extLst>
          </p:cNvPr>
          <p:cNvSpPr>
            <a:spLocks xmlns:a="http://schemas.openxmlformats.org/drawingml/2006/main" noGrp="1"/>
          </p:cNvSpPr>
          <p:nvPr/>
        </p:nvSpPr>
        <p:spPr>
          <a:xfrm xmlns:a="http://schemas.openxmlformats.org/drawingml/2006/main">
            <a:off x="857250" y="3124200"/>
            <a:ext cx="10458450" cy="47625"/>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D4B9170-78A0-4CE4-A0DC-0D4C81F91CFF}"/>
              </a:ext>
            </a:extLst>
          </p:cNvPr>
          <p:cNvSpPr>
            <a:spLocks xmlns:a="http://schemas.openxmlformats.org/drawingml/2006/main" noGrp="1"/>
          </p:cNvSpPr>
          <p:nvPr/>
        </p:nvSpPr>
        <p:spPr>
          <a:xfrm xmlns:a="http://schemas.openxmlformats.org/drawingml/2006/main">
            <a:off x="1047750" y="2952750"/>
            <a:ext cx="381000" cy="381000"/>
          </a:xfrm>
          <a:prstGeom xmlns:a="http://schemas.openxmlformats.org/drawingml/2006/main" prst="roundRect">
            <a:avLst>
              <a:gd name="adj" fmla="val 50000"/>
            </a:avLst>
          </a:prstGeom>
          <a:solidFill xmlns:a="http://schemas.openxmlformats.org/drawingml/2006/main">
            <a:srgbClr val="4F8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7571AF-E7AC-4059-B7AF-BC93008F538B}"/>
              </a:ext>
            </a:extLst>
          </p:cNvPr>
          <p:cNvSpPr>
            <a:spLocks xmlns:a="http://schemas.openxmlformats.org/drawingml/2006/main" noGrp="1"/>
          </p:cNvSpPr>
          <p:nvPr/>
        </p:nvSpPr>
        <p:spPr>
          <a:xfrm xmlns:a="http://schemas.openxmlformats.org/drawingml/2006/main">
            <a:off x="990600" y="22669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4F8BFF"/>
                </a:solidFill>
                <a:latin typeface="Aptos"/>
                <a:ea typeface="Aptos"/>
                <a:cs typeface="Aptos"/>
              </a:defRPr>
            </a:pPr>
            <a:r>
              <a:rPr sz="2250" b="1">
                <a:solidFill>
                  <a:srgbClr val="4F8BFF"/>
                </a:solidFill>
                <a:latin typeface="Aptos"/>
                <a:ea typeface="Aptos"/>
                <a:cs typeface="Aptos"/>
              </a:rPr>
              <a:t>2017</a:t>
            </a:r>
          </a:p>
        </p:txBody>
      </p:sp>
      <p:sp>
        <p:nvSpPr>
          <p:cNvPr id="7" name="">
            <a:extLst xmlns:a="http://schemas.openxmlformats.org/drawingml/2006/main">
              <a:ext uri="{FF2B5EF4-FFF2-40B4-BE49-F238E27FC236}">
                <a16:creationId xmlns:a16="http://schemas.microsoft.com/office/drawing/2014/main" id="{DAAF97DF-4605-44E4-BFF3-4B266F48E94C}"/>
              </a:ext>
            </a:extLst>
          </p:cNvPr>
          <p:cNvSpPr>
            <a:spLocks xmlns:a="http://schemas.openxmlformats.org/drawingml/2006/main" noGrp="1"/>
          </p:cNvSpPr>
          <p:nvPr/>
        </p:nvSpPr>
        <p:spPr>
          <a:xfrm xmlns:a="http://schemas.openxmlformats.org/drawingml/2006/main">
            <a:off x="1028700" y="3714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71A2B"/>
                </a:solidFill>
                <a:latin typeface="Aptos"/>
                <a:ea typeface="Aptos"/>
                <a:cs typeface="Aptos"/>
              </a:defRPr>
            </a:pPr>
            <a:r>
              <a:rPr sz="1650" b="1">
                <a:solidFill>
                  <a:srgbClr val="071A2B"/>
                </a:solidFill>
                <a:latin typeface="Aptos"/>
                <a:ea typeface="Aptos"/>
                <a:cs typeface="Aptos"/>
              </a:rPr>
              <a:t>START</a:t>
            </a:r>
          </a:p>
        </p:txBody>
      </p:sp>
      <p:sp>
        <p:nvSpPr>
          <p:cNvPr id="8" name="">
            <a:extLst xmlns:a="http://schemas.openxmlformats.org/drawingml/2006/main">
              <a:ext uri="{FF2B5EF4-FFF2-40B4-BE49-F238E27FC236}">
                <a16:creationId xmlns:a16="http://schemas.microsoft.com/office/drawing/2014/main" id="{F10E9E84-541D-4A27-A5A7-CFE61623B736}"/>
              </a:ext>
            </a:extLst>
          </p:cNvPr>
          <p:cNvSpPr>
            <a:spLocks xmlns:a="http://schemas.openxmlformats.org/drawingml/2006/main" noGrp="1"/>
          </p:cNvSpPr>
          <p:nvPr/>
        </p:nvSpPr>
        <p:spPr>
          <a:xfrm xmlns:a="http://schemas.openxmlformats.org/drawingml/2006/main">
            <a:off x="1028700" y="41719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Photon sensors</a:t>
            </a:r>
          </a:p>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Particle Cloud</a:t>
            </a:r>
          </a:p>
        </p:txBody>
      </p:sp>
      <p:sp>
        <p:nvSpPr>
          <p:cNvPr id="9" name="">
            <a:extLst xmlns:a="http://schemas.openxmlformats.org/drawingml/2006/main">
              <a:ext uri="{FF2B5EF4-FFF2-40B4-BE49-F238E27FC236}">
                <a16:creationId xmlns:a16="http://schemas.microsoft.com/office/drawing/2014/main" id="{C5BB2802-229C-475C-AE8B-13C1693E7813}"/>
              </a:ext>
            </a:extLst>
          </p:cNvPr>
          <p:cNvSpPr>
            <a:spLocks xmlns:a="http://schemas.openxmlformats.org/drawingml/2006/main" noGrp="1"/>
          </p:cNvSpPr>
          <p:nvPr/>
        </p:nvSpPr>
        <p:spPr>
          <a:xfrm xmlns:a="http://schemas.openxmlformats.org/drawingml/2006/main">
            <a:off x="4857750" y="2952750"/>
            <a:ext cx="381000" cy="3810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39D640-D6F7-4326-AB2A-6BF030BB00F7}"/>
              </a:ext>
            </a:extLst>
          </p:cNvPr>
          <p:cNvSpPr>
            <a:spLocks xmlns:a="http://schemas.openxmlformats.org/drawingml/2006/main" noGrp="1"/>
          </p:cNvSpPr>
          <p:nvPr/>
        </p:nvSpPr>
        <p:spPr>
          <a:xfrm xmlns:a="http://schemas.openxmlformats.org/drawingml/2006/main">
            <a:off x="4800600" y="22669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F59E0B"/>
                </a:solidFill>
                <a:latin typeface="Aptos"/>
                <a:ea typeface="Aptos"/>
                <a:cs typeface="Aptos"/>
              </a:defRPr>
            </a:pPr>
            <a:r>
              <a:rPr sz="2250" b="1">
                <a:solidFill>
                  <a:srgbClr val="F59E0B"/>
                </a:solidFill>
                <a:latin typeface="Aptos"/>
                <a:ea typeface="Aptos"/>
                <a:cs typeface="Aptos"/>
              </a:rPr>
              <a:t>2021</a:t>
            </a:r>
          </a:p>
        </p:txBody>
      </p:sp>
      <p:sp>
        <p:nvSpPr>
          <p:cNvPr id="11" name="">
            <a:extLst xmlns:a="http://schemas.openxmlformats.org/drawingml/2006/main">
              <a:ext uri="{FF2B5EF4-FFF2-40B4-BE49-F238E27FC236}">
                <a16:creationId xmlns:a16="http://schemas.microsoft.com/office/drawing/2014/main" id="{68F97AAC-69A8-4900-99A7-D688256FA7C0}"/>
              </a:ext>
            </a:extLst>
          </p:cNvPr>
          <p:cNvSpPr>
            <a:spLocks xmlns:a="http://schemas.openxmlformats.org/drawingml/2006/main" noGrp="1"/>
          </p:cNvSpPr>
          <p:nvPr/>
        </p:nvSpPr>
        <p:spPr>
          <a:xfrm xmlns:a="http://schemas.openxmlformats.org/drawingml/2006/main">
            <a:off x="4838700" y="3714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71A2B"/>
                </a:solidFill>
                <a:latin typeface="Aptos"/>
                <a:ea typeface="Aptos"/>
                <a:cs typeface="Aptos"/>
              </a:defRPr>
            </a:pPr>
            <a:r>
              <a:rPr sz="1650" b="1">
                <a:solidFill>
                  <a:srgbClr val="071A2B"/>
                </a:solidFill>
                <a:latin typeface="Aptos"/>
                <a:ea typeface="Aptos"/>
                <a:cs typeface="Aptos"/>
              </a:rPr>
              <a:t>EXPAND</a:t>
            </a:r>
          </a:p>
        </p:txBody>
      </p:sp>
      <p:sp>
        <p:nvSpPr>
          <p:cNvPr id="12" name="">
            <a:extLst xmlns:a="http://schemas.openxmlformats.org/drawingml/2006/main">
              <a:ext uri="{FF2B5EF4-FFF2-40B4-BE49-F238E27FC236}">
                <a16:creationId xmlns:a16="http://schemas.microsoft.com/office/drawing/2014/main" id="{1F2C2E00-9DE5-4041-A419-886880380177}"/>
              </a:ext>
            </a:extLst>
          </p:cNvPr>
          <p:cNvSpPr>
            <a:spLocks xmlns:a="http://schemas.openxmlformats.org/drawingml/2006/main" noGrp="1"/>
          </p:cNvSpPr>
          <p:nvPr/>
        </p:nvSpPr>
        <p:spPr>
          <a:xfrm xmlns:a="http://schemas.openxmlformats.org/drawingml/2006/main">
            <a:off x="4838700" y="41719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ESP32 fleet</a:t>
            </a:r>
          </a:p>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AWS IoT</a:t>
            </a:r>
          </a:p>
        </p:txBody>
      </p:sp>
      <p:sp>
        <p:nvSpPr>
          <p:cNvPr id="13" name="">
            <a:extLst xmlns:a="http://schemas.openxmlformats.org/drawingml/2006/main">
              <a:ext uri="{FF2B5EF4-FFF2-40B4-BE49-F238E27FC236}">
                <a16:creationId xmlns:a16="http://schemas.microsoft.com/office/drawing/2014/main" id="{2BF042A9-2F95-434D-9240-77C705583197}"/>
              </a:ext>
            </a:extLst>
          </p:cNvPr>
          <p:cNvSpPr>
            <a:spLocks xmlns:a="http://schemas.openxmlformats.org/drawingml/2006/main" noGrp="1"/>
          </p:cNvSpPr>
          <p:nvPr/>
        </p:nvSpPr>
        <p:spPr>
          <a:xfrm xmlns:a="http://schemas.openxmlformats.org/drawingml/2006/main">
            <a:off x="8667750" y="2952750"/>
            <a:ext cx="381000" cy="381000"/>
          </a:xfrm>
          <a:prstGeom xmlns:a="http://schemas.openxmlformats.org/drawingml/2006/main" prst="roundRect">
            <a:avLst>
              <a:gd name="adj" fmla="val 50000"/>
            </a:avLst>
          </a:prstGeom>
          <a:solidFill xmlns:a="http://schemas.openxmlformats.org/drawingml/2006/main">
            <a:srgbClr val="E431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EE78ED-0A36-4EFE-81B1-DCBDD0D9152D}"/>
              </a:ext>
            </a:extLst>
          </p:cNvPr>
          <p:cNvSpPr>
            <a:spLocks xmlns:a="http://schemas.openxmlformats.org/drawingml/2006/main" noGrp="1"/>
          </p:cNvSpPr>
          <p:nvPr/>
        </p:nvSpPr>
        <p:spPr>
          <a:xfrm xmlns:a="http://schemas.openxmlformats.org/drawingml/2006/main">
            <a:off x="8610600" y="226695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E43145"/>
                </a:solidFill>
                <a:latin typeface="Aptos"/>
                <a:ea typeface="Aptos"/>
                <a:cs typeface="Aptos"/>
              </a:defRPr>
            </a:pPr>
            <a:r>
              <a:rPr sz="2250" b="1">
                <a:solidFill>
                  <a:srgbClr val="E43145"/>
                </a:solidFill>
                <a:latin typeface="Aptos"/>
                <a:ea typeface="Aptos"/>
                <a:cs typeface="Aptos"/>
              </a:rPr>
              <a:t>2026</a:t>
            </a:r>
          </a:p>
        </p:txBody>
      </p:sp>
      <p:sp>
        <p:nvSpPr>
          <p:cNvPr id="15" name="">
            <a:extLst xmlns:a="http://schemas.openxmlformats.org/drawingml/2006/main">
              <a:ext uri="{FF2B5EF4-FFF2-40B4-BE49-F238E27FC236}">
                <a16:creationId xmlns:a16="http://schemas.microsoft.com/office/drawing/2014/main" id="{AF10A46C-14D0-4781-9992-510A2352BD14}"/>
              </a:ext>
            </a:extLst>
          </p:cNvPr>
          <p:cNvSpPr>
            <a:spLocks xmlns:a="http://schemas.openxmlformats.org/drawingml/2006/main" noGrp="1"/>
          </p:cNvSpPr>
          <p:nvPr/>
        </p:nvSpPr>
        <p:spPr>
          <a:xfrm xmlns:a="http://schemas.openxmlformats.org/drawingml/2006/main">
            <a:off x="8648700" y="3714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71A2B"/>
                </a:solidFill>
                <a:latin typeface="Aptos"/>
                <a:ea typeface="Aptos"/>
                <a:cs typeface="Aptos"/>
              </a:defRPr>
            </a:pPr>
            <a:r>
              <a:rPr sz="1650" b="1">
                <a:solidFill>
                  <a:srgbClr val="071A2B"/>
                </a:solidFill>
                <a:latin typeface="Aptos"/>
                <a:ea typeface="Aptos"/>
                <a:cs typeface="Aptos"/>
              </a:rPr>
              <a:t>MODERNIZE</a:t>
            </a:r>
          </a:p>
        </p:txBody>
      </p:sp>
      <p:sp>
        <p:nvSpPr>
          <p:cNvPr id="16" name="">
            <a:extLst xmlns:a="http://schemas.openxmlformats.org/drawingml/2006/main">
              <a:ext uri="{FF2B5EF4-FFF2-40B4-BE49-F238E27FC236}">
                <a16:creationId xmlns:a16="http://schemas.microsoft.com/office/drawing/2014/main" id="{C8B6C86A-25EC-41D6-B851-1160C04C89CD}"/>
              </a:ext>
            </a:extLst>
          </p:cNvPr>
          <p:cNvSpPr>
            <a:spLocks xmlns:a="http://schemas.openxmlformats.org/drawingml/2006/main" noGrp="1"/>
          </p:cNvSpPr>
          <p:nvPr/>
        </p:nvSpPr>
        <p:spPr>
          <a:xfrm xmlns:a="http://schemas.openxmlformats.org/drawingml/2006/main">
            <a:off x="8648700" y="4171950"/>
            <a:ext cx="238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Same fleet</a:t>
            </a:r>
          </a:p>
          <a:p xmlns:a="http://schemas.openxmlformats.org/drawingml/2006/main">
            <a:pPr algn="l">
              <a:defRPr sz="1875" b="0">
                <a:solidFill>
                  <a:srgbClr val="10202F"/>
                </a:solidFill>
                <a:latin typeface="Aptos"/>
                <a:ea typeface="Aptos"/>
                <a:cs typeface="Aptos"/>
              </a:defRPr>
            </a:pPr>
            <a:r>
              <a:rPr sz="1875" b="0">
                <a:solidFill>
                  <a:srgbClr val="10202F"/>
                </a:solidFill>
                <a:latin typeface="Aptos"/>
                <a:ea typeface="Aptos"/>
                <a:cs typeface="Aptos"/>
              </a:rPr>
              <a:t>Local PiServer</a:t>
            </a:r>
          </a:p>
        </p:txBody>
      </p:sp>
      <p:sp>
        <p:nvSpPr>
          <p:cNvPr id="17" name="">
            <a:extLst xmlns:a="http://schemas.openxmlformats.org/drawingml/2006/main">
              <a:ext uri="{FF2B5EF4-FFF2-40B4-BE49-F238E27FC236}">
                <a16:creationId xmlns:a16="http://schemas.microsoft.com/office/drawing/2014/main" id="{26FF2097-6E5B-44FF-9BFD-C2BF7222C544}"/>
              </a:ext>
            </a:extLst>
          </p:cNvPr>
          <p:cNvSpPr>
            <a:spLocks xmlns:a="http://schemas.openxmlformats.org/drawingml/2006/main" noGrp="1"/>
          </p:cNvSpPr>
          <p:nvPr/>
        </p:nvSpPr>
        <p:spPr>
          <a:xfrm xmlns:a="http://schemas.openxmlformats.org/drawingml/2006/main">
            <a:off x="857250" y="56959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58697A"/>
                </a:solidFill>
                <a:latin typeface="Aptos"/>
                <a:ea typeface="Aptos"/>
                <a:cs typeface="Aptos"/>
              </a:defRPr>
            </a:pPr>
            <a:r>
              <a:rPr sz="1875" b="0">
                <a:solidFill>
                  <a:srgbClr val="58697A"/>
                </a:solidFill>
                <a:latin typeface="Aptos"/>
                <a:ea typeface="Aptos"/>
                <a:cs typeface="Aptos"/>
              </a:rPr>
              <a:t>The hardware remained useful. The friction around it did not.</a:t>
            </a:r>
          </a:p>
        </p:txBody>
      </p:sp>
      <p:sp>
        <p:nvSpPr>
          <p:cNvPr id="18" name="page-number">
            <a:extLst xmlns:a="http://schemas.openxmlformats.org/drawingml/2006/main">
              <a:ext uri="{FF2B5EF4-FFF2-40B4-BE49-F238E27FC236}">
                <a16:creationId xmlns:a16="http://schemas.microsoft.com/office/drawing/2014/main" id="{4FD62CB6-CC5D-4851-8180-8CEAE0CE57EB}"/>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8697A"/>
                </a:solidFill>
                <a:latin typeface="Aptos"/>
                <a:ea typeface="Aptos"/>
                <a:cs typeface="Aptos"/>
              </a:defRPr>
            </a:pPr>
            <a:r>
              <a:rPr sz="825" b="0">
                <a:solidFill>
                  <a:srgbClr val="58697A"/>
                </a:solidFill>
                <a:latin typeface="Aptos"/>
                <a:ea typeface="Aptos"/>
                <a:cs typeface="Aptos"/>
              </a:rPr>
              <a:t>3</a:t>
            </a:r>
          </a:p>
        </p:txBody>
      </p:sp>
    </p:spTree>
    <p:extLst>
      <p:ext uri="{BB962C8B-B14F-4D97-AF65-F5344CB8AC3E}">
        <p14:creationId xmlns:p14="http://schemas.microsoft.com/office/powerpoint/2010/main" val="786467418"/>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39a5bdbe884b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9EE25E-57D1-44CA-B9D5-A1BD02B3E411}"/>
              </a:ext>
            </a:extLst>
          </p:cNvPr>
          <p:cNvSpPr>
            <a:spLocks xmlns:a="http://schemas.openxmlformats.org/drawingml/2006/main" noGrp="1"/>
          </p:cNvSpPr>
          <p:nvPr/>
        </p:nvSpPr>
        <p:spPr>
          <a:xfrm xmlns:a="http://schemas.openxmlformats.org/drawingml/2006/main">
            <a:off x="514350" y="666750"/>
            <a:ext cx="438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10202F"/>
                </a:solidFill>
                <a:latin typeface="Aptos"/>
                <a:ea typeface="Aptos"/>
                <a:cs typeface="Aptos"/>
              </a:defRPr>
            </a:pPr>
            <a:r>
              <a:rPr sz="3225" b="1">
                <a:solidFill>
                  <a:srgbClr val="10202F"/>
                </a:solidFill>
                <a:latin typeface="Aptos"/>
                <a:ea typeface="Aptos"/>
                <a:cs typeface="Aptos"/>
              </a:rPr>
              <a:t>The system worked.</a:t>
            </a:r>
          </a:p>
        </p:txBody>
      </p:sp>
      <p:sp>
        <p:nvSpPr>
          <p:cNvPr id="3" name="">
            <a:extLst xmlns:a="http://schemas.openxmlformats.org/drawingml/2006/main">
              <a:ext uri="{FF2B5EF4-FFF2-40B4-BE49-F238E27FC236}">
                <a16:creationId xmlns:a16="http://schemas.microsoft.com/office/drawing/2014/main" id="{A7DFA522-EB56-453E-89E7-DCD3A5BF7B34}"/>
              </a:ext>
            </a:extLst>
          </p:cNvPr>
          <p:cNvSpPr>
            <a:spLocks xmlns:a="http://schemas.openxmlformats.org/drawingml/2006/main" noGrp="1"/>
          </p:cNvSpPr>
          <p:nvPr/>
        </p:nvSpPr>
        <p:spPr>
          <a:xfrm xmlns:a="http://schemas.openxmlformats.org/drawingml/2006/main">
            <a:off x="514350" y="1219200"/>
            <a:ext cx="4953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E43145"/>
                </a:solidFill>
                <a:latin typeface="Aptos"/>
                <a:ea typeface="Aptos"/>
                <a:cs typeface="Aptos"/>
              </a:defRPr>
            </a:pPr>
            <a:r>
              <a:rPr sz="3225" b="1">
                <a:solidFill>
                  <a:srgbClr val="E43145"/>
                </a:solidFill>
                <a:latin typeface="Aptos"/>
                <a:ea typeface="Aptos"/>
                <a:cs typeface="Aptos"/>
              </a:rPr>
              <a:t>Friction stopped improvement.</a:t>
            </a:r>
          </a:p>
        </p:txBody>
      </p:sp>
      <p:sp>
        <p:nvSpPr>
          <p:cNvPr id="4" name="">
            <a:extLst xmlns:a="http://schemas.openxmlformats.org/drawingml/2006/main">
              <a:ext uri="{FF2B5EF4-FFF2-40B4-BE49-F238E27FC236}">
                <a16:creationId xmlns:a16="http://schemas.microsoft.com/office/drawing/2014/main" id="{0266824F-8BD2-49FC-A8D1-1BD618EF90E4}"/>
              </a:ext>
            </a:extLst>
          </p:cNvPr>
          <p:cNvSpPr>
            <a:spLocks xmlns:a="http://schemas.openxmlformats.org/drawingml/2006/main" noGrp="1"/>
          </p:cNvSpPr>
          <p:nvPr/>
        </p:nvSpPr>
        <p:spPr>
          <a:xfrm xmlns:a="http://schemas.openxmlformats.org/drawingml/2006/main">
            <a:off x="533400" y="48577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8697A"/>
                </a:solidFill>
                <a:latin typeface="Aptos"/>
                <a:ea typeface="Aptos"/>
                <a:cs typeface="Aptos"/>
              </a:defRPr>
            </a:pPr>
            <a:r>
              <a:rPr sz="1575" b="0">
                <a:solidFill>
                  <a:srgbClr val="58697A"/>
                </a:solidFill>
                <a:latin typeface="Aptos"/>
                <a:ea typeface="Aptos"/>
                <a:cs typeface="Aptos"/>
              </a:rPr>
              <a:t>Messaging  •  pipelines  •  databases  •  hosting</a:t>
            </a:r>
          </a:p>
        </p:txBody>
      </p:sp>
      <p:sp>
        <p:nvSpPr>
          <p:cNvPr id="5" name="">
            <a:extLst xmlns:a="http://schemas.openxmlformats.org/drawingml/2006/main">
              <a:ext uri="{FF2B5EF4-FFF2-40B4-BE49-F238E27FC236}">
                <a16:creationId xmlns:a16="http://schemas.microsoft.com/office/drawing/2014/main" id="{6BE84274-1BDA-4293-B354-F5A939200393}"/>
              </a:ext>
            </a:extLst>
          </p:cNvPr>
          <p:cNvSpPr>
            <a:spLocks xmlns:a="http://schemas.openxmlformats.org/drawingml/2006/main" noGrp="1"/>
          </p:cNvSpPr>
          <p:nvPr/>
        </p:nvSpPr>
        <p:spPr>
          <a:xfrm xmlns:a="http://schemas.openxmlformats.org/drawingml/2006/main">
            <a:off x="533400" y="54673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202F"/>
                </a:solidFill>
                <a:latin typeface="Aptos"/>
                <a:ea typeface="Aptos"/>
                <a:cs typeface="Aptos"/>
              </a:defRPr>
            </a:pPr>
            <a:r>
              <a:rPr sz="2100" b="1">
                <a:solidFill>
                  <a:srgbClr val="10202F"/>
                </a:solidFill>
                <a:latin typeface="Aptos"/>
                <a:ea typeface="Aptos"/>
                <a:cs typeface="Aptos"/>
              </a:rPr>
              <a:t>One reading every 10 minutes</a:t>
            </a:r>
          </a:p>
        </p:txBody>
      </p:sp>
      <p:sp>
        <p:nvSpPr>
          <p:cNvPr id="6" name="page-number">
            <a:extLst xmlns:a="http://schemas.openxmlformats.org/drawingml/2006/main">
              <a:ext uri="{FF2B5EF4-FFF2-40B4-BE49-F238E27FC236}">
                <a16:creationId xmlns:a16="http://schemas.microsoft.com/office/drawing/2014/main" id="{62690F3A-E55F-4534-921B-AD0963671E5F}"/>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FFFFFF"/>
                </a:solidFill>
                <a:latin typeface="Aptos"/>
                <a:ea typeface="Aptos"/>
                <a:cs typeface="Aptos"/>
              </a:defRPr>
            </a:pPr>
            <a:r>
              <a:rPr sz="825" b="0">
                <a:solidFill>
                  <a:srgbClr val="FFFFFF"/>
                </a:solidFill>
                <a:latin typeface="Aptos"/>
                <a:ea typeface="Aptos"/>
                <a:cs typeface="Aptos"/>
              </a:rPr>
              <a:t>4</a:t>
            </a:r>
          </a:p>
        </p:txBody>
      </p:sp>
    </p:spTree>
    <p:extLst>
      <p:ext uri="{BB962C8B-B14F-4D97-AF65-F5344CB8AC3E}">
        <p14:creationId xmlns:p14="http://schemas.microsoft.com/office/powerpoint/2010/main" val="1232229918"/>
      </p:ext>
    </p:extLst>
  </p:cSld>
</p:sld>
</file>

<file path=ppt/slides/slide5.xml><?xml version="1.0" encoding="utf-8"?>
<p:sld xmlns:p="http://schemas.openxmlformats.org/presentationml/2006/main">
  <p:cSld>
    <p:bg>
      <p:bgPr>
        <a:solidFill xmlns:a="http://schemas.openxmlformats.org/drawingml/2006/main">
          <a:srgbClr val="F59E0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CDDF6A-1EE0-4FDC-8004-16C38462F74E}"/>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ED3E55-80A6-469B-87BB-FFFB17531FF2}"/>
              </a:ext>
            </a:extLst>
          </p:cNvPr>
          <p:cNvSpPr>
            <a:spLocks xmlns:a="http://schemas.openxmlformats.org/drawingml/2006/main" noGrp="1"/>
          </p:cNvSpPr>
          <p:nvPr/>
        </p:nvSpPr>
        <p:spPr>
          <a:xfrm xmlns:a="http://schemas.openxmlformats.org/drawingml/2006/main">
            <a:off x="514350" y="285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59E0B"/>
                </a:solidFill>
                <a:latin typeface="Aptos"/>
                <a:ea typeface="Aptos"/>
                <a:cs typeface="Aptos"/>
              </a:defRPr>
            </a:pPr>
            <a:r>
              <a:rPr sz="1650" b="1">
                <a:solidFill>
                  <a:srgbClr val="F59E0B"/>
                </a:solidFill>
                <a:latin typeface="Aptos"/>
                <a:ea typeface="Aptos"/>
                <a:cs typeface="Aptos"/>
              </a:rPr>
              <a:t>BEFORE</a:t>
            </a:r>
          </a:p>
        </p:txBody>
      </p:sp>
      <p:sp>
        <p:nvSpPr>
          <p:cNvPr id="3" name="">
            <a:extLst xmlns:a="http://schemas.openxmlformats.org/drawingml/2006/main">
              <a:ext uri="{FF2B5EF4-FFF2-40B4-BE49-F238E27FC236}">
                <a16:creationId xmlns:a16="http://schemas.microsoft.com/office/drawing/2014/main" id="{B34CE7FB-BEDE-4CA3-9DC1-7208C77DB846}"/>
              </a:ext>
            </a:extLst>
          </p:cNvPr>
          <p:cNvSpPr>
            <a:spLocks xmlns:a="http://schemas.openxmlformats.org/drawingml/2006/main" noGrp="1"/>
          </p:cNvSpPr>
          <p:nvPr/>
        </p:nvSpPr>
        <p:spPr>
          <a:xfrm xmlns:a="http://schemas.openxmlformats.org/drawingml/2006/main">
            <a:off x="2190750" y="209550"/>
            <a:ext cx="876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a:ea typeface="Aptos"/>
                <a:cs typeface="Aptos"/>
              </a:defRPr>
            </a:pPr>
            <a:r>
              <a:rPr sz="3150" b="1">
                <a:solidFill>
                  <a:srgbClr val="FFFFFF"/>
                </a:solidFill>
                <a:latin typeface="Aptos"/>
                <a:ea typeface="Aptos"/>
                <a:cs typeface="Aptos"/>
              </a:rPr>
              <a:t>The cloud became the system.</a:t>
            </a:r>
          </a:p>
        </p:txBody>
      </p:sp>
      <p:sp>
        <p:nvSpPr>
          <p:cNvPr id="4" name="architecture-frame">
            <a:extLst xmlns:a="http://schemas.openxmlformats.org/drawingml/2006/main">
              <a:ext uri="{FF2B5EF4-FFF2-40B4-BE49-F238E27FC236}">
                <a16:creationId xmlns:a16="http://schemas.microsoft.com/office/drawing/2014/main" id="{98FF7CF8-DC0D-4F10-8951-F3121DE96560}"/>
              </a:ext>
            </a:extLst>
          </p:cNvPr>
          <p:cNvSpPr>
            <a:spLocks xmlns:a="http://schemas.openxmlformats.org/drawingml/2006/main" noGrp="1"/>
          </p:cNvSpPr>
          <p:nvPr/>
        </p:nvSpPr>
        <p:spPr>
          <a:xfrm xmlns:a="http://schemas.openxmlformats.org/drawingml/2006/main">
            <a:off x="419100" y="1200150"/>
            <a:ext cx="11353800" cy="4362450"/>
          </a:xfrm>
          <a:prstGeom xmlns:a="http://schemas.openxmlformats.org/drawingml/2006/main" prst="roundRect">
            <a:avLst>
              <a:gd name="adj" fmla="val 2620"/>
            </a:avLst>
          </a:prstGeom>
          <a:solidFill xmlns:a="http://schemas.openxmlformats.org/drawingml/2006/main">
            <a:srgbClr val="FFFFFF"/>
          </a:solidFill>
          <a:ln xmlns:a="http://schemas.openxmlformats.org/drawingml/2006/main" w="0">
            <a:no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8acc49f67ea4b6d"/>
          <a:stretch xmlns:a="http://schemas.openxmlformats.org/drawingml/2006/main"/>
        </p:blipFill>
        <p:spPr>
          <a:xfrm xmlns:a="http://schemas.openxmlformats.org/drawingml/2006/main">
            <a:off x="2457268" y="1333500"/>
            <a:ext cx="7277464" cy="4095750"/>
          </a:xfrm>
          <a:prstGeom xmlns:a="http://schemas.openxmlformats.org/drawingml/2006/main" prst="rect">
            <a:avLst/>
          </a:prstGeom>
        </p:spPr>
      </p:pic>
      <p:sp>
        <p:nvSpPr>
          <p:cNvPr id="6" name="dashboard-not-built-label">
            <a:extLst xmlns:a="http://schemas.openxmlformats.org/drawingml/2006/main">
              <a:ext uri="{FF2B5EF4-FFF2-40B4-BE49-F238E27FC236}">
                <a16:creationId xmlns:a16="http://schemas.microsoft.com/office/drawing/2014/main" id="{62B25A5F-B811-42CB-91B0-B297DA85319D}"/>
              </a:ext>
            </a:extLst>
          </p:cNvPr>
          <p:cNvSpPr>
            <a:spLocks xmlns:a="http://schemas.openxmlformats.org/drawingml/2006/main" noGrp="1"/>
          </p:cNvSpPr>
          <p:nvPr/>
        </p:nvSpPr>
        <p:spPr>
          <a:xfrm xmlns:a="http://schemas.openxmlformats.org/drawingml/2006/main">
            <a:off x="8267700" y="40576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43145"/>
                </a:solidFill>
                <a:latin typeface="Aptos"/>
                <a:ea typeface="Aptos"/>
                <a:cs typeface="Aptos"/>
              </a:defRPr>
            </a:pPr>
            <a:r>
              <a:rPr sz="1350" b="1">
                <a:solidFill>
                  <a:srgbClr val="E43145"/>
                </a:solidFill>
                <a:latin typeface="Aptos"/>
                <a:ea typeface="Aptos"/>
                <a:cs typeface="Aptos"/>
              </a:rPr>
              <a:t>GOAL — NOT BUILT</a:t>
            </a:r>
          </a:p>
        </p:txBody>
      </p:sp>
      <p:sp>
        <p:nvSpPr>
          <p:cNvPr id="7" name="dashboard-not-built-x">
            <a:extLst xmlns:a="http://schemas.openxmlformats.org/drawingml/2006/main">
              <a:ext uri="{FF2B5EF4-FFF2-40B4-BE49-F238E27FC236}">
                <a16:creationId xmlns:a16="http://schemas.microsoft.com/office/drawing/2014/main" id="{83E68FD8-1735-4D75-ADDA-358C6A1774D4}"/>
              </a:ext>
            </a:extLst>
          </p:cNvPr>
          <p:cNvSpPr>
            <a:spLocks xmlns:a="http://schemas.openxmlformats.org/drawingml/2006/main" noGrp="1"/>
          </p:cNvSpPr>
          <p:nvPr/>
        </p:nvSpPr>
        <p:spPr>
          <a:xfrm xmlns:a="http://schemas.openxmlformats.org/drawingml/2006/main">
            <a:off x="8839200" y="4171950"/>
            <a:ext cx="10953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6150" b="1">
                <a:solidFill>
                  <a:srgbClr val="E43145"/>
                </a:solidFill>
                <a:latin typeface="Aptos"/>
                <a:ea typeface="Aptos"/>
                <a:cs typeface="Aptos"/>
              </a:defRPr>
            </a:pPr>
            <a:r>
              <a:rPr sz="6150" b="1">
                <a:solidFill>
                  <a:srgbClr val="E43145"/>
                </a:solidFill>
                <a:latin typeface="Aptos"/>
                <a:ea typeface="Aptos"/>
                <a:cs typeface="Aptos"/>
              </a:rPr>
              <a:t>✕</a:t>
            </a:r>
          </a:p>
        </p:txBody>
      </p:sp>
      <p:sp>
        <p:nvSpPr>
          <p:cNvPr id="8" name="legacy-data-strip">
            <a:extLst xmlns:a="http://schemas.openxmlformats.org/drawingml/2006/main">
              <a:ext uri="{FF2B5EF4-FFF2-40B4-BE49-F238E27FC236}">
                <a16:creationId xmlns:a16="http://schemas.microsoft.com/office/drawing/2014/main" id="{494CD01F-2018-4D89-B183-102B7E678CAC}"/>
              </a:ext>
            </a:extLst>
          </p:cNvPr>
          <p:cNvSpPr>
            <a:spLocks xmlns:a="http://schemas.openxmlformats.org/drawingml/2006/main" noGrp="1"/>
          </p:cNvSpPr>
          <p:nvPr/>
        </p:nvSpPr>
        <p:spPr>
          <a:xfrm xmlns:a="http://schemas.openxmlformats.org/drawingml/2006/main">
            <a:off x="419100" y="5715000"/>
            <a:ext cx="11353800" cy="647700"/>
          </a:xfrm>
          <a:prstGeom xmlns:a="http://schemas.openxmlformats.org/drawingml/2006/main" prst="roundRect">
            <a:avLst>
              <a:gd name="adj" fmla="val 11765"/>
            </a:avLst>
          </a:prstGeom>
          <a:solidFill xmlns:a="http://schemas.openxmlformats.org/drawingml/2006/main">
            <a:srgbClr val="071A2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37D2419-5596-4402-AF86-7709BD2B8B0F}"/>
              </a:ext>
            </a:extLst>
          </p:cNvPr>
          <p:cNvSpPr>
            <a:spLocks xmlns:a="http://schemas.openxmlformats.org/drawingml/2006/main" noGrp="1"/>
          </p:cNvSpPr>
          <p:nvPr/>
        </p:nvSpPr>
        <p:spPr>
          <a:xfrm xmlns:a="http://schemas.openxmlformats.org/drawingml/2006/main">
            <a:off x="666750" y="585787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3,480,081 READINGS</a:t>
            </a:r>
          </a:p>
        </p:txBody>
      </p:sp>
      <p:sp>
        <p:nvSpPr>
          <p:cNvPr id="10" name="">
            <a:extLst xmlns:a="http://schemas.openxmlformats.org/drawingml/2006/main">
              <a:ext uri="{FF2B5EF4-FFF2-40B4-BE49-F238E27FC236}">
                <a16:creationId xmlns:a16="http://schemas.microsoft.com/office/drawing/2014/main" id="{53DC8731-EFA9-417D-BCB3-ACC5ABAF9893}"/>
              </a:ext>
            </a:extLst>
          </p:cNvPr>
          <p:cNvSpPr>
            <a:spLocks xmlns:a="http://schemas.openxmlformats.org/drawingml/2006/main" noGrp="1"/>
          </p:cNvSpPr>
          <p:nvPr/>
        </p:nvSpPr>
        <p:spPr>
          <a:xfrm xmlns:a="http://schemas.openxmlformats.org/drawingml/2006/main">
            <a:off x="4171950" y="5886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7F2E8"/>
                </a:solidFill>
                <a:latin typeface="Aptos"/>
                <a:ea typeface="Aptos"/>
                <a:cs typeface="Aptos"/>
              </a:defRPr>
            </a:pPr>
            <a:r>
              <a:rPr sz="1425" b="1">
                <a:solidFill>
                  <a:srgbClr val="F7F2E8"/>
                </a:solidFill>
                <a:latin typeface="Aptos"/>
                <a:ea typeface="Aptos"/>
                <a:cs typeface="Aptos"/>
              </a:rPr>
              <a:t>JUL 4, 2021  →  OCT 30, 2025</a:t>
            </a:r>
          </a:p>
        </p:txBody>
      </p:sp>
      <p:sp>
        <p:nvSpPr>
          <p:cNvPr id="11" name="">
            <a:extLst xmlns:a="http://schemas.openxmlformats.org/drawingml/2006/main">
              <a:ext uri="{FF2B5EF4-FFF2-40B4-BE49-F238E27FC236}">
                <a16:creationId xmlns:a16="http://schemas.microsoft.com/office/drawing/2014/main" id="{CEB194D8-B7E5-4033-862C-5B8AFA9160A9}"/>
              </a:ext>
            </a:extLst>
          </p:cNvPr>
          <p:cNvSpPr>
            <a:spLocks xmlns:a="http://schemas.openxmlformats.org/drawingml/2006/main" noGrp="1"/>
          </p:cNvSpPr>
          <p:nvPr/>
        </p:nvSpPr>
        <p:spPr>
          <a:xfrm xmlns:a="http://schemas.openxmlformats.org/drawingml/2006/main">
            <a:off x="8763000" y="5886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F59E0B"/>
                </a:solidFill>
                <a:latin typeface="Aptos"/>
                <a:ea typeface="Aptos"/>
                <a:cs typeface="Aptos"/>
              </a:defRPr>
            </a:pPr>
            <a:r>
              <a:rPr sz="1350" b="1">
                <a:solidFill>
                  <a:srgbClr val="F59E0B"/>
                </a:solidFill>
                <a:latin typeface="Aptos"/>
                <a:ea typeface="Aptos"/>
                <a:cs typeface="Aptos"/>
              </a:rPr>
              <a:t>10-MINUTE CADENCE</a:t>
            </a:r>
          </a:p>
        </p:txBody>
      </p:sp>
      <p:sp>
        <p:nvSpPr>
          <p:cNvPr id="12" name="page-number">
            <a:extLst xmlns:a="http://schemas.openxmlformats.org/drawingml/2006/main">
              <a:ext uri="{FF2B5EF4-FFF2-40B4-BE49-F238E27FC236}">
                <a16:creationId xmlns:a16="http://schemas.microsoft.com/office/drawing/2014/main" id="{D6836C87-CAF8-4475-BBAD-5790367DFAF7}"/>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071A2B"/>
                </a:solidFill>
                <a:latin typeface="Aptos"/>
                <a:ea typeface="Aptos"/>
                <a:cs typeface="Aptos"/>
              </a:defRPr>
            </a:pPr>
            <a:r>
              <a:rPr sz="825" b="0">
                <a:solidFill>
                  <a:srgbClr val="071A2B"/>
                </a:solidFill>
                <a:latin typeface="Aptos"/>
                <a:ea typeface="Aptos"/>
                <a:cs typeface="Aptos"/>
              </a:rPr>
              <a:t>5</a:t>
            </a:r>
          </a:p>
        </p:txBody>
      </p:sp>
    </p:spTree>
    <p:extLst>
      <p:ext uri="{BB962C8B-B14F-4D97-AF65-F5344CB8AC3E}">
        <p14:creationId xmlns:p14="http://schemas.microsoft.com/office/powerpoint/2010/main" val="489136629"/>
      </p:ext>
    </p:extLst>
  </p:cSld>
</p:sld>
</file>

<file path=ppt/slides/slide6.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AFB2F1-CA26-46A9-8F66-BE1B4A109ABB}"/>
              </a:ext>
            </a:extLst>
          </p:cNvPr>
          <p:cNvSpPr>
            <a:spLocks xmlns:a="http://schemas.openxmlformats.org/drawingml/2006/main" noGrp="1"/>
          </p:cNvSpPr>
          <p:nvPr/>
        </p:nvSpPr>
        <p:spPr>
          <a:xfrm xmlns:a="http://schemas.openxmlformats.org/drawingml/2006/main">
            <a:off x="514350" y="266700"/>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2D583"/>
                </a:solidFill>
                <a:latin typeface="Aptos"/>
                <a:ea typeface="Aptos"/>
                <a:cs typeface="Aptos"/>
              </a:defRPr>
            </a:pPr>
            <a:r>
              <a:rPr sz="1650" b="1">
                <a:solidFill>
                  <a:srgbClr val="32D583"/>
                </a:solidFill>
                <a:latin typeface="Aptos"/>
                <a:ea typeface="Aptos"/>
                <a:cs typeface="Aptos"/>
              </a:rPr>
              <a:t>NOW</a:t>
            </a:r>
          </a:p>
        </p:txBody>
      </p:sp>
      <p:sp>
        <p:nvSpPr>
          <p:cNvPr id="2" name="">
            <a:extLst xmlns:a="http://schemas.openxmlformats.org/drawingml/2006/main">
              <a:ext uri="{FF2B5EF4-FFF2-40B4-BE49-F238E27FC236}">
                <a16:creationId xmlns:a16="http://schemas.microsoft.com/office/drawing/2014/main" id="{4DB3FB97-8F3D-4CA4-A085-74D54E15FB6E}"/>
              </a:ext>
            </a:extLst>
          </p:cNvPr>
          <p:cNvSpPr>
            <a:spLocks xmlns:a="http://schemas.openxmlformats.org/drawingml/2006/main" noGrp="1"/>
          </p:cNvSpPr>
          <p:nvPr/>
        </p:nvSpPr>
        <p:spPr>
          <a:xfrm xmlns:a="http://schemas.openxmlformats.org/drawingml/2006/main">
            <a:off x="1790700" y="190500"/>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a:ea typeface="Aptos"/>
                <a:cs typeface="Aptos"/>
              </a:defRPr>
            </a:pPr>
            <a:r>
              <a:rPr sz="3150" b="1">
                <a:solidFill>
                  <a:srgbClr val="FFFFFF"/>
                </a:solidFill>
                <a:latin typeface="Aptos"/>
                <a:ea typeface="Aptos"/>
                <a:cs typeface="Aptos"/>
              </a:rPr>
              <a:t>Local first. Cloud only for backup.</a:t>
            </a:r>
          </a:p>
        </p:txBody>
      </p:sp>
      <p:sp>
        <p:nvSpPr>
          <p:cNvPr id="3" name="current-frame">
            <a:extLst xmlns:a="http://schemas.openxmlformats.org/drawingml/2006/main">
              <a:ext uri="{FF2B5EF4-FFF2-40B4-BE49-F238E27FC236}">
                <a16:creationId xmlns:a16="http://schemas.microsoft.com/office/drawing/2014/main" id="{FF918CD2-10D0-4C23-8A08-37BE1F241843}"/>
              </a:ext>
            </a:extLst>
          </p:cNvPr>
          <p:cNvSpPr>
            <a:spLocks xmlns:a="http://schemas.openxmlformats.org/drawingml/2006/main" noGrp="1"/>
          </p:cNvSpPr>
          <p:nvPr/>
        </p:nvSpPr>
        <p:spPr>
          <a:xfrm xmlns:a="http://schemas.openxmlformats.org/drawingml/2006/main">
            <a:off x="361950" y="990600"/>
            <a:ext cx="11468100" cy="4514850"/>
          </a:xfrm>
          <a:prstGeom xmlns:a="http://schemas.openxmlformats.org/drawingml/2006/main" prst="roundRect">
            <a:avLst>
              <a:gd name="adj" fmla="val 2532"/>
            </a:avLst>
          </a:prstGeom>
          <a:solidFill xmlns:a="http://schemas.openxmlformats.org/drawingml/2006/main">
            <a:srgbClr val="F7F2E8"/>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1de744e4834cc5"/>
          <a:stretch xmlns:a="http://schemas.openxmlformats.org/drawingml/2006/main"/>
        </p:blipFill>
        <p:spPr>
          <a:xfrm xmlns:a="http://schemas.openxmlformats.org/drawingml/2006/main">
            <a:off x="2288024" y="1085850"/>
            <a:ext cx="7615951" cy="4286250"/>
          </a:xfrm>
          <a:prstGeom xmlns:a="http://schemas.openxmlformats.org/drawingml/2006/main" prst="rect">
            <a:avLst/>
          </a:prstGeom>
        </p:spPr>
      </p:pic>
      <p:sp>
        <p:nvSpPr>
          <p:cNvPr id="5" name="local-data-strip">
            <a:extLst xmlns:a="http://schemas.openxmlformats.org/drawingml/2006/main">
              <a:ext uri="{FF2B5EF4-FFF2-40B4-BE49-F238E27FC236}">
                <a16:creationId xmlns:a16="http://schemas.microsoft.com/office/drawing/2014/main" id="{47F7223D-D256-4B03-9CDC-302C0A68628B}"/>
              </a:ext>
            </a:extLst>
          </p:cNvPr>
          <p:cNvSpPr>
            <a:spLocks xmlns:a="http://schemas.openxmlformats.org/drawingml/2006/main" noGrp="1"/>
          </p:cNvSpPr>
          <p:nvPr/>
        </p:nvSpPr>
        <p:spPr>
          <a:xfrm xmlns:a="http://schemas.openxmlformats.org/drawingml/2006/main">
            <a:off x="361950" y="5657850"/>
            <a:ext cx="11468100" cy="704850"/>
          </a:xfrm>
          <a:prstGeom xmlns:a="http://schemas.openxmlformats.org/drawingml/2006/main" prst="roundRect">
            <a:avLst>
              <a:gd name="adj" fmla="val 10811"/>
            </a:avLst>
          </a:prstGeom>
          <a:solidFill xmlns:a="http://schemas.openxmlformats.org/drawingml/2006/main">
            <a:srgbClr val="32D58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5C15CD-B1DC-4D11-8795-E87FA2878596}"/>
              </a:ext>
            </a:extLst>
          </p:cNvPr>
          <p:cNvSpPr>
            <a:spLocks xmlns:a="http://schemas.openxmlformats.org/drawingml/2006/main" noGrp="1"/>
          </p:cNvSpPr>
          <p:nvPr/>
        </p:nvSpPr>
        <p:spPr>
          <a:xfrm xmlns:a="http://schemas.openxmlformats.org/drawingml/2006/main">
            <a:off x="628650" y="58102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71A2B"/>
                </a:solidFill>
                <a:latin typeface="Aptos"/>
                <a:ea typeface="Aptos"/>
                <a:cs typeface="Aptos"/>
              </a:defRPr>
            </a:pPr>
            <a:r>
              <a:rPr sz="1800" b="1">
                <a:solidFill>
                  <a:srgbClr val="071A2B"/>
                </a:solidFill>
                <a:latin typeface="Aptos"/>
                <a:ea typeface="Aptos"/>
                <a:cs typeface="Aptos"/>
              </a:rPr>
              <a:t>341,385 VALID READINGS</a:t>
            </a:r>
          </a:p>
        </p:txBody>
      </p:sp>
      <p:sp>
        <p:nvSpPr>
          <p:cNvPr id="7" name="">
            <a:extLst xmlns:a="http://schemas.openxmlformats.org/drawingml/2006/main">
              <a:ext uri="{FF2B5EF4-FFF2-40B4-BE49-F238E27FC236}">
                <a16:creationId xmlns:a16="http://schemas.microsoft.com/office/drawing/2014/main" id="{133C67FE-E5EB-454F-9F2E-9EBCE74F43F4}"/>
              </a:ext>
            </a:extLst>
          </p:cNvPr>
          <p:cNvSpPr>
            <a:spLocks xmlns:a="http://schemas.openxmlformats.org/drawingml/2006/main" noGrp="1"/>
          </p:cNvSpPr>
          <p:nvPr/>
        </p:nvSpPr>
        <p:spPr>
          <a:xfrm xmlns:a="http://schemas.openxmlformats.org/drawingml/2006/main">
            <a:off x="4238625" y="5848350"/>
            <a:ext cx="3762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071A2B"/>
                </a:solidFill>
                <a:latin typeface="Aptos"/>
                <a:ea typeface="Aptos"/>
                <a:cs typeface="Aptos"/>
              </a:defRPr>
            </a:pPr>
            <a:r>
              <a:rPr sz="1425" b="1">
                <a:solidFill>
                  <a:srgbClr val="071A2B"/>
                </a:solidFill>
                <a:latin typeface="Aptos"/>
                <a:ea typeface="Aptos"/>
                <a:cs typeface="Aptos"/>
              </a:rPr>
              <a:t>JUN 22  →  AUG 28, 2026</a:t>
            </a:r>
          </a:p>
        </p:txBody>
      </p:sp>
      <p:sp>
        <p:nvSpPr>
          <p:cNvPr id="8" name="">
            <a:extLst xmlns:a="http://schemas.openxmlformats.org/drawingml/2006/main">
              <a:ext uri="{FF2B5EF4-FFF2-40B4-BE49-F238E27FC236}">
                <a16:creationId xmlns:a16="http://schemas.microsoft.com/office/drawing/2014/main" id="{CDAD9D97-D1EB-4D22-8CCA-DF49F7E19114}"/>
              </a:ext>
            </a:extLst>
          </p:cNvPr>
          <p:cNvSpPr>
            <a:spLocks xmlns:a="http://schemas.openxmlformats.org/drawingml/2006/main" noGrp="1"/>
          </p:cNvSpPr>
          <p:nvPr/>
        </p:nvSpPr>
        <p:spPr>
          <a:xfrm xmlns:a="http://schemas.openxmlformats.org/drawingml/2006/main">
            <a:off x="9048750" y="58483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425" b="1">
                <a:solidFill>
                  <a:srgbClr val="071A2B"/>
                </a:solidFill>
                <a:latin typeface="Aptos"/>
                <a:ea typeface="Aptos"/>
                <a:cs typeface="Aptos"/>
              </a:defRPr>
            </a:pPr>
            <a:r>
              <a:rPr sz="1425" b="1">
                <a:solidFill>
                  <a:srgbClr val="071A2B"/>
                </a:solidFill>
                <a:latin typeface="Aptos"/>
                <a:ea typeface="Aptos"/>
                <a:cs typeface="Aptos"/>
              </a:rPr>
              <a:t>27 DEVICE IDs</a:t>
            </a:r>
          </a:p>
        </p:txBody>
      </p:sp>
      <p:sp>
        <p:nvSpPr>
          <p:cNvPr id="9" name="page-number">
            <a:extLst xmlns:a="http://schemas.openxmlformats.org/drawingml/2006/main">
              <a:ext uri="{FF2B5EF4-FFF2-40B4-BE49-F238E27FC236}">
                <a16:creationId xmlns:a16="http://schemas.microsoft.com/office/drawing/2014/main" id="{4BA34C43-98E9-432A-9A0D-AF1FF51E11BF}"/>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6</a:t>
            </a:r>
          </a:p>
        </p:txBody>
      </p:sp>
    </p:spTree>
    <p:extLst>
      <p:ext uri="{BB962C8B-B14F-4D97-AF65-F5344CB8AC3E}">
        <p14:creationId xmlns:p14="http://schemas.microsoft.com/office/powerpoint/2010/main" val="1707869026"/>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785609-496F-4674-A3FB-FE59AEAEF9D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2D583"/>
          </a:solidFill>
          <a:ln xmlns:a="http://schemas.openxmlformats.org/drawingml/2006/main" w="0">
            <a:noFill/>
            <a:prstDash val="solid"/>
          </a:ln>
        </p:spPr>
      </p:sp>
      <p:sp>
        <p:nvSpPr>
          <p:cNvPr id="2" name="eyebrow-mark">
            <a:extLst xmlns:a="http://schemas.openxmlformats.org/drawingml/2006/main">
              <a:ext uri="{FF2B5EF4-FFF2-40B4-BE49-F238E27FC236}">
                <a16:creationId xmlns:a16="http://schemas.microsoft.com/office/drawing/2014/main" id="{5D35D1A6-6596-443A-9666-49059473BBDB}"/>
              </a:ext>
            </a:extLst>
          </p:cNvPr>
          <p:cNvSpPr>
            <a:spLocks xmlns:a="http://schemas.openxmlformats.org/drawingml/2006/main" noGrp="1"/>
          </p:cNvSpPr>
          <p:nvPr/>
        </p:nvSpPr>
        <p:spPr>
          <a:xfrm xmlns:a="http://schemas.openxmlformats.org/drawingml/2006/main">
            <a:off x="514350" y="342900"/>
            <a:ext cx="66675" cy="190500"/>
          </a:xfrm>
          <a:prstGeom xmlns:a="http://schemas.openxmlformats.org/drawingml/2006/main" prst="rect">
            <a:avLst/>
          </a:prstGeom>
          <a:solidFill xmlns:a="http://schemas.openxmlformats.org/drawingml/2006/main">
            <a:srgbClr val="32D583"/>
          </a:solidFill>
          <a:ln xmlns:a="http://schemas.openxmlformats.org/drawingml/2006/main" w="0">
            <a:noFill/>
            <a:prstDash val="solid"/>
          </a:ln>
        </p:spPr>
      </p:sp>
      <p:sp>
        <p:nvSpPr>
          <p:cNvPr id="3" name="eyebrow">
            <a:extLst xmlns:a="http://schemas.openxmlformats.org/drawingml/2006/main">
              <a:ext uri="{FF2B5EF4-FFF2-40B4-BE49-F238E27FC236}">
                <a16:creationId xmlns:a16="http://schemas.microsoft.com/office/drawing/2014/main" id="{70CCC119-48A8-4561-97FF-193D76C6085A}"/>
              </a:ext>
            </a:extLst>
          </p:cNvPr>
          <p:cNvSpPr>
            <a:spLocks xmlns:a="http://schemas.openxmlformats.org/drawingml/2006/main" noGrp="1"/>
          </p:cNvSpPr>
          <p:nvPr/>
        </p:nvSpPr>
        <p:spPr>
          <a:xfrm xmlns:a="http://schemas.openxmlformats.org/drawingml/2006/main">
            <a:off x="685800" y="3238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2D583"/>
                </a:solidFill>
                <a:latin typeface="Aptos"/>
                <a:ea typeface="Aptos"/>
                <a:cs typeface="Aptos"/>
              </a:defRPr>
            </a:pPr>
            <a:r>
              <a:rPr sz="1125" b="1">
                <a:solidFill>
                  <a:srgbClr val="32D583"/>
                </a:solidFill>
                <a:latin typeface="Aptos"/>
                <a:ea typeface="Aptos"/>
                <a:cs typeface="Aptos"/>
              </a:rPr>
              <a:t>THE OUTCOME</a:t>
            </a:r>
          </a:p>
        </p:txBody>
      </p:sp>
      <p:sp>
        <p:nvSpPr>
          <p:cNvPr id="4" name="slide-title">
            <a:extLst xmlns:a="http://schemas.openxmlformats.org/drawingml/2006/main">
              <a:ext uri="{FF2B5EF4-FFF2-40B4-BE49-F238E27FC236}">
                <a16:creationId xmlns:a16="http://schemas.microsoft.com/office/drawing/2014/main" id="{E8FDAF83-A8A1-4247-BE14-BD6754E45A54}"/>
              </a:ext>
            </a:extLst>
          </p:cNvPr>
          <p:cNvSpPr>
            <a:spLocks xmlns:a="http://schemas.openxmlformats.org/drawingml/2006/main" noGrp="1"/>
          </p:cNvSpPr>
          <p:nvPr/>
        </p:nvSpPr>
        <p:spPr>
          <a:xfrm xmlns:a="http://schemas.openxmlformats.org/drawingml/2006/main">
            <a:off x="514350" y="6667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10202F"/>
                </a:solidFill>
                <a:latin typeface="Aptos"/>
                <a:ea typeface="Aptos"/>
                <a:cs typeface="Aptos"/>
              </a:defRPr>
            </a:pPr>
            <a:r>
              <a:rPr sz="3075" b="1">
                <a:solidFill>
                  <a:srgbClr val="10202F"/>
                </a:solidFill>
                <a:latin typeface="Aptos"/>
                <a:ea typeface="Aptos"/>
                <a:cs typeface="Aptos"/>
              </a:rPr>
              <a:t>The original idea is finally visible.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e6c5bda289f4923"/>
          <a:stretch xmlns:a="http://schemas.openxmlformats.org/drawingml/2006/main"/>
        </p:blipFill>
        <p:spPr>
          <a:xfrm xmlns:a="http://schemas.openxmlformats.org/drawingml/2006/main">
            <a:off x="2409972" y="1352550"/>
            <a:ext cx="7372057" cy="4895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7FCBF52-E869-4F8C-9291-A96121C66B3B}"/>
              </a:ext>
            </a:extLst>
          </p:cNvPr>
          <p:cNvSpPr>
            <a:spLocks xmlns:a="http://schemas.openxmlformats.org/drawingml/2006/main" noGrp="1"/>
          </p:cNvSpPr>
          <p:nvPr/>
        </p:nvSpPr>
        <p:spPr>
          <a:xfrm xmlns:a="http://schemas.openxmlformats.org/drawingml/2006/main">
            <a:off x="8134350" y="1085850"/>
            <a:ext cx="3009900" cy="533400"/>
          </a:xfrm>
          <a:prstGeom xmlns:a="http://schemas.openxmlformats.org/drawingml/2006/main" prst="roundRect">
            <a:avLst>
              <a:gd name="adj" fmla="val 14286"/>
            </a:avLst>
          </a:prstGeom>
          <a:solidFill xmlns:a="http://schemas.openxmlformats.org/drawingml/2006/main">
            <a:srgbClr val="071A2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9B0E8C-B16B-45AB-BE6E-1704E56207E6}"/>
              </a:ext>
            </a:extLst>
          </p:cNvPr>
          <p:cNvSpPr>
            <a:spLocks xmlns:a="http://schemas.openxmlformats.org/drawingml/2006/main" noGrp="1"/>
          </p:cNvSpPr>
          <p:nvPr/>
        </p:nvSpPr>
        <p:spPr>
          <a:xfrm xmlns:a="http://schemas.openxmlformats.org/drawingml/2006/main">
            <a:off x="8334375" y="12287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IDEA  →  WORKING PRODUCT</a:t>
            </a:r>
          </a:p>
        </p:txBody>
      </p:sp>
      <p:sp>
        <p:nvSpPr>
          <p:cNvPr id="8" name="page-number">
            <a:extLst xmlns:a="http://schemas.openxmlformats.org/drawingml/2006/main">
              <a:ext uri="{FF2B5EF4-FFF2-40B4-BE49-F238E27FC236}">
                <a16:creationId xmlns:a16="http://schemas.microsoft.com/office/drawing/2014/main" id="{13F652F4-C544-4CE1-ABB9-DDAD65456F6C}"/>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8697A"/>
                </a:solidFill>
                <a:latin typeface="Aptos"/>
                <a:ea typeface="Aptos"/>
                <a:cs typeface="Aptos"/>
              </a:defRPr>
            </a:pPr>
            <a:r>
              <a:rPr sz="825" b="0">
                <a:solidFill>
                  <a:srgbClr val="58697A"/>
                </a:solidFill>
                <a:latin typeface="Aptos"/>
                <a:ea typeface="Aptos"/>
                <a:cs typeface="Aptos"/>
              </a:rPr>
              <a:t>7</a:t>
            </a:r>
          </a:p>
        </p:txBody>
      </p:sp>
    </p:spTree>
    <p:extLst>
      <p:ext uri="{BB962C8B-B14F-4D97-AF65-F5344CB8AC3E}">
        <p14:creationId xmlns:p14="http://schemas.microsoft.com/office/powerpoint/2010/main" val="142020833"/>
      </p:ext>
    </p:extLst>
  </p:cSld>
</p:sld>
</file>

<file path=ppt/slides/slide8.xml><?xml version="1.0" encoding="utf-8"?>
<p:sld xmlns:p="http://schemas.openxmlformats.org/presentationml/2006/main">
  <p:cSld>
    <p:bg>
      <p:bgPr>
        <a:solidFill xmlns:a="http://schemas.openxmlformats.org/drawingml/2006/main">
          <a:srgbClr val="0D294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DAA0A6-9D52-492E-BD96-5E96F4A62B39}"/>
              </a:ext>
            </a:extLst>
          </p:cNvPr>
          <p:cNvSpPr>
            <a:spLocks xmlns:a="http://schemas.openxmlformats.org/drawingml/2006/main" noGrp="1"/>
          </p:cNvSpPr>
          <p:nvPr/>
        </p:nvSpPr>
        <p:spPr>
          <a:xfrm xmlns:a="http://schemas.openxmlformats.org/drawingml/2006/main">
            <a:off x="514350" y="95250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1">
                <a:solidFill>
                  <a:srgbClr val="32D583"/>
                </a:solidFill>
                <a:latin typeface="Aptos"/>
                <a:ea typeface="Aptos"/>
                <a:cs typeface="Aptos"/>
              </a:defRPr>
            </a:pPr>
            <a:r>
              <a:rPr sz="5400" b="1">
                <a:solidFill>
                  <a:srgbClr val="32D583"/>
                </a:solidFill>
                <a:latin typeface="Aptos"/>
                <a:ea typeface="Aptos"/>
                <a:cs typeface="Aptos"/>
              </a:rPr>
              <a:t>4,556</a:t>
            </a:r>
          </a:p>
        </p:txBody>
      </p:sp>
      <p:sp>
        <p:nvSpPr>
          <p:cNvPr id="2" name="">
            <a:extLst xmlns:a="http://schemas.openxmlformats.org/drawingml/2006/main">
              <a:ext uri="{FF2B5EF4-FFF2-40B4-BE49-F238E27FC236}">
                <a16:creationId xmlns:a16="http://schemas.microsoft.com/office/drawing/2014/main" id="{369B4AED-638F-4029-B83D-0C58D9662598}"/>
              </a:ext>
            </a:extLst>
          </p:cNvPr>
          <p:cNvSpPr>
            <a:spLocks xmlns:a="http://schemas.openxmlformats.org/drawingml/2006/main" noGrp="1"/>
          </p:cNvSpPr>
          <p:nvPr/>
        </p:nvSpPr>
        <p:spPr>
          <a:xfrm xmlns:a="http://schemas.openxmlformats.org/drawingml/2006/main">
            <a:off x="552450" y="1857375"/>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FFFFFF"/>
                </a:solidFill>
                <a:latin typeface="Aptos"/>
                <a:ea typeface="Aptos"/>
                <a:cs typeface="Aptos"/>
              </a:defRPr>
            </a:pPr>
            <a:r>
              <a:rPr sz="2175" b="1">
                <a:solidFill>
                  <a:srgbClr val="FFFFFF"/>
                </a:solidFill>
                <a:latin typeface="Aptos"/>
                <a:ea typeface="Aptos"/>
                <a:cs typeface="Aptos"/>
              </a:rPr>
              <a:t>readings in 24 hours</a:t>
            </a:r>
          </a:p>
        </p:txBody>
      </p:sp>
      <p:sp>
        <p:nvSpPr>
          <p:cNvPr id="3" name="">
            <a:extLst xmlns:a="http://schemas.openxmlformats.org/drawingml/2006/main">
              <a:ext uri="{FF2B5EF4-FFF2-40B4-BE49-F238E27FC236}">
                <a16:creationId xmlns:a16="http://schemas.microsoft.com/office/drawing/2014/main" id="{5118AC6B-B1AE-4471-B88F-CA8B235EA346}"/>
              </a:ext>
            </a:extLst>
          </p:cNvPr>
          <p:cNvSpPr>
            <a:spLocks xmlns:a="http://schemas.openxmlformats.org/drawingml/2006/main" noGrp="1"/>
          </p:cNvSpPr>
          <p:nvPr/>
        </p:nvSpPr>
        <p:spPr>
          <a:xfrm xmlns:a="http://schemas.openxmlformats.org/drawingml/2006/main">
            <a:off x="533400" y="3333750"/>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F7F2E8"/>
                </a:solidFill>
                <a:latin typeface="Aptos"/>
                <a:ea typeface="Aptos"/>
                <a:cs typeface="Aptos"/>
              </a:defRPr>
            </a:pPr>
            <a:r>
              <a:rPr sz="2925" b="1">
                <a:solidFill>
                  <a:srgbClr val="F7F2E8"/>
                </a:solidFill>
                <a:latin typeface="Aptos"/>
                <a:ea typeface="Aptos"/>
                <a:cs typeface="Aptos"/>
              </a:rPr>
              <a:t>Local changed what</a:t>
            </a:r>
          </a:p>
          <a:p xmlns:a="http://schemas.openxmlformats.org/drawingml/2006/main">
            <a:pPr algn="l">
              <a:defRPr sz="2925" b="1">
                <a:solidFill>
                  <a:srgbClr val="F7F2E8"/>
                </a:solidFill>
                <a:latin typeface="Aptos"/>
                <a:ea typeface="Aptos"/>
                <a:cs typeface="Aptos"/>
              </a:defRPr>
            </a:pPr>
            <a:r>
              <a:rPr sz="2925" b="1">
                <a:solidFill>
                  <a:srgbClr val="F7F2E8"/>
                </a:solidFill>
                <a:latin typeface="Aptos"/>
                <a:ea typeface="Aptos"/>
                <a:cs typeface="Aptos"/>
              </a:rPr>
              <a:t>the data could tell me.</a:t>
            </a:r>
          </a:p>
        </p:txBody>
      </p:sp>
      <p:sp>
        <p:nvSpPr>
          <p:cNvPr id="4" name="">
            <a:extLst xmlns:a="http://schemas.openxmlformats.org/drawingml/2006/main">
              <a:ext uri="{FF2B5EF4-FFF2-40B4-BE49-F238E27FC236}">
                <a16:creationId xmlns:a16="http://schemas.microsoft.com/office/drawing/2014/main" id="{6C4BEEAF-6A90-46D9-812F-39D892747614}"/>
              </a:ext>
            </a:extLst>
          </p:cNvPr>
          <p:cNvSpPr>
            <a:spLocks xmlns:a="http://schemas.openxmlformats.org/drawingml/2006/main" noGrp="1"/>
          </p:cNvSpPr>
          <p:nvPr/>
        </p:nvSpPr>
        <p:spPr>
          <a:xfrm xmlns:a="http://schemas.openxmlformats.org/drawingml/2006/main">
            <a:off x="4000500" y="2095500"/>
            <a:ext cx="7810500" cy="2533650"/>
          </a:xfrm>
          <a:prstGeom xmlns:a="http://schemas.openxmlformats.org/drawingml/2006/main" prst="roundRect">
            <a:avLst>
              <a:gd name="adj" fmla="val 4511"/>
            </a:avLst>
          </a:prstGeom>
          <a:solidFill xmlns:a="http://schemas.openxmlformats.org/drawingml/2006/main">
            <a:srgbClr val="FFFFFF"/>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f78a524d8f54f6e"/>
          <a:stretch xmlns:a="http://schemas.openxmlformats.org/drawingml/2006/main"/>
        </p:blipFill>
        <p:spPr>
          <a:xfrm xmlns:a="http://schemas.openxmlformats.org/drawingml/2006/main">
            <a:off x="4133850" y="2392226"/>
            <a:ext cx="7543800" cy="194019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61BD547-D976-4A5D-B9E1-61AA4EC9ABFC}"/>
              </a:ext>
            </a:extLst>
          </p:cNvPr>
          <p:cNvSpPr>
            <a:spLocks xmlns:a="http://schemas.openxmlformats.org/drawingml/2006/main" noGrp="1"/>
          </p:cNvSpPr>
          <p:nvPr/>
        </p:nvSpPr>
        <p:spPr>
          <a:xfrm xmlns:a="http://schemas.openxmlformats.org/drawingml/2006/main">
            <a:off x="4286250" y="5124450"/>
            <a:ext cx="876300" cy="6667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E61A2FA-3662-4DBE-89EC-033A3EB5C7DB}"/>
              </a:ext>
            </a:extLst>
          </p:cNvPr>
          <p:cNvSpPr>
            <a:spLocks xmlns:a="http://schemas.openxmlformats.org/drawingml/2006/main" noGrp="1"/>
          </p:cNvSpPr>
          <p:nvPr/>
        </p:nvSpPr>
        <p:spPr>
          <a:xfrm xmlns:a="http://schemas.openxmlformats.org/drawingml/2006/main">
            <a:off x="4286250" y="5381625"/>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F7F2E8"/>
                </a:solidFill>
                <a:latin typeface="Aptos"/>
                <a:ea typeface="Aptos"/>
                <a:cs typeface="Aptos"/>
              </a:defRPr>
            </a:pPr>
            <a:r>
              <a:rPr sz="2175" b="1">
                <a:solidFill>
                  <a:srgbClr val="F7F2E8"/>
                </a:solidFill>
                <a:latin typeface="Aptos"/>
                <a:ea typeface="Aptos"/>
                <a:cs typeface="Aptos"/>
              </a:rPr>
              <a:t>Higher frequency reveals patterns, cycles, and outliers.</a:t>
            </a:r>
          </a:p>
        </p:txBody>
      </p:sp>
      <p:sp>
        <p:nvSpPr>
          <p:cNvPr id="8" name="page-number">
            <a:extLst xmlns:a="http://schemas.openxmlformats.org/drawingml/2006/main">
              <a:ext uri="{FF2B5EF4-FFF2-40B4-BE49-F238E27FC236}">
                <a16:creationId xmlns:a16="http://schemas.microsoft.com/office/drawing/2014/main" id="{C262961C-A1AB-4A39-82EE-6CE0E0C6064C}"/>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8</a:t>
            </a:r>
          </a:p>
        </p:txBody>
      </p:sp>
    </p:spTree>
    <p:extLst>
      <p:ext uri="{BB962C8B-B14F-4D97-AF65-F5344CB8AC3E}">
        <p14:creationId xmlns:p14="http://schemas.microsoft.com/office/powerpoint/2010/main" val="578248863"/>
      </p:ext>
    </p:extLst>
  </p:cSld>
</p:sld>
</file>

<file path=ppt/slides/slide9.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66D98A-CABE-4312-B7C9-658EF3AE0E01}"/>
              </a:ext>
            </a:extLst>
          </p:cNvPr>
          <p:cNvSpPr>
            <a:spLocks xmlns:a="http://schemas.openxmlformats.org/drawingml/2006/main" noGrp="1"/>
          </p:cNvSpPr>
          <p:nvPr/>
        </p:nvSpPr>
        <p:spPr>
          <a:xfrm xmlns:a="http://schemas.openxmlformats.org/drawingml/2006/main">
            <a:off x="0" y="0"/>
            <a:ext cx="5572125" cy="6858000"/>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b3956dc671d4ac2"/>
          <a:srcRect xmlns:a="http://schemas.openxmlformats.org/drawingml/2006/main" l="22837" t="0" r="22837" b="0"/>
          <a:stretch xmlns:a="http://schemas.openxmlformats.org/drawingml/2006/main">
            <a:fillRect l="0" t="0" r="0" b="0"/>
          </a:stretch>
        </p:blipFill>
        <p:spPr>
          <a:xfrm xmlns:a="http://schemas.openxmlformats.org/drawingml/2006/main">
            <a:off x="5572125" y="0"/>
            <a:ext cx="6619875" cy="6858000"/>
          </a:xfrm>
          <a:prstGeom xmlns:a="http://schemas.openxmlformats.org/drawingml/2006/main" prst="rect">
            <a:avLst/>
          </a:prstGeom>
        </p:spPr>
      </p:pic>
      <p:sp>
        <p:nvSpPr>
          <p:cNvPr id="3" name="eyebrow-mark">
            <a:extLst xmlns:a="http://schemas.openxmlformats.org/drawingml/2006/main">
              <a:ext uri="{FF2B5EF4-FFF2-40B4-BE49-F238E27FC236}">
                <a16:creationId xmlns:a16="http://schemas.microsoft.com/office/drawing/2014/main" id="{5CF72AAE-5001-4976-96E7-6237FAEFB293}"/>
              </a:ext>
            </a:extLst>
          </p:cNvPr>
          <p:cNvSpPr>
            <a:spLocks xmlns:a="http://schemas.openxmlformats.org/drawingml/2006/main" noGrp="1"/>
          </p:cNvSpPr>
          <p:nvPr/>
        </p:nvSpPr>
        <p:spPr>
          <a:xfrm xmlns:a="http://schemas.openxmlformats.org/drawingml/2006/main">
            <a:off x="514350" y="476250"/>
            <a:ext cx="66675" cy="1905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37A49A45-DDD0-43C6-ABE3-8E71F65B0043}"/>
              </a:ext>
            </a:extLst>
          </p:cNvPr>
          <p:cNvSpPr>
            <a:spLocks xmlns:a="http://schemas.openxmlformats.org/drawingml/2006/main" noGrp="1"/>
          </p:cNvSpPr>
          <p:nvPr/>
        </p:nvSpPr>
        <p:spPr>
          <a:xfrm xmlns:a="http://schemas.openxmlformats.org/drawingml/2006/main">
            <a:off x="685800" y="4572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E43145"/>
                </a:solidFill>
                <a:latin typeface="Aptos"/>
                <a:ea typeface="Aptos"/>
                <a:cs typeface="Aptos"/>
              </a:defRPr>
            </a:pPr>
            <a:r>
              <a:rPr sz="1125" b="1">
                <a:solidFill>
                  <a:srgbClr val="E43145"/>
                </a:solidFill>
                <a:latin typeface="Aptos"/>
                <a:ea typeface="Aptos"/>
                <a:cs typeface="Aptos"/>
              </a:rPr>
              <a:t>THE TURNING POINT</a:t>
            </a:r>
          </a:p>
        </p:txBody>
      </p:sp>
      <p:sp>
        <p:nvSpPr>
          <p:cNvPr id="5" name="">
            <a:extLst xmlns:a="http://schemas.openxmlformats.org/drawingml/2006/main">
              <a:ext uri="{FF2B5EF4-FFF2-40B4-BE49-F238E27FC236}">
                <a16:creationId xmlns:a16="http://schemas.microsoft.com/office/drawing/2014/main" id="{46883A2E-D00B-4F89-BDA5-E9AB15933759}"/>
              </a:ext>
            </a:extLst>
          </p:cNvPr>
          <p:cNvSpPr>
            <a:spLocks xmlns:a="http://schemas.openxmlformats.org/drawingml/2006/main" noGrp="1"/>
          </p:cNvSpPr>
          <p:nvPr/>
        </p:nvSpPr>
        <p:spPr>
          <a:xfrm xmlns:a="http://schemas.openxmlformats.org/drawingml/2006/main">
            <a:off x="514350" y="1524000"/>
            <a:ext cx="4572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FFFFFF"/>
                </a:solidFill>
                <a:latin typeface="Aptos"/>
                <a:ea typeface="Aptos"/>
                <a:cs typeface="Aptos"/>
              </a:defRPr>
            </a:pPr>
            <a:r>
              <a:rPr sz="3525" b="1">
                <a:solidFill>
                  <a:srgbClr val="FFFFFF"/>
                </a:solidFill>
                <a:latin typeface="Aptos"/>
                <a:ea typeface="Aptos"/>
                <a:cs typeface="Aptos"/>
              </a:rPr>
              <a:t>This isn’t really</a:t>
            </a:r>
          </a:p>
          <a:p xmlns:a="http://schemas.openxmlformats.org/drawingml/2006/main">
            <a:pPr algn="l">
              <a:defRPr sz="3525" b="1">
                <a:solidFill>
                  <a:srgbClr val="FFFFFF"/>
                </a:solidFill>
                <a:latin typeface="Aptos"/>
                <a:ea typeface="Aptos"/>
                <a:cs typeface="Aptos"/>
              </a:defRPr>
            </a:pPr>
            <a:r>
              <a:rPr sz="3525" b="1">
                <a:solidFill>
                  <a:srgbClr val="FFFFFF"/>
                </a:solidFill>
                <a:latin typeface="Aptos"/>
                <a:ea typeface="Aptos"/>
                <a:cs typeface="Aptos"/>
              </a:rPr>
              <a:t>a story about AWS</a:t>
            </a:r>
          </a:p>
          <a:p xmlns:a="http://schemas.openxmlformats.org/drawingml/2006/main">
            <a:pPr algn="l">
              <a:defRPr sz="3525" b="1">
                <a:solidFill>
                  <a:srgbClr val="FFFFFF"/>
                </a:solidFill>
                <a:latin typeface="Aptos"/>
                <a:ea typeface="Aptos"/>
                <a:cs typeface="Aptos"/>
              </a:defRPr>
            </a:pPr>
            <a:r>
              <a:rPr sz="3525" b="1">
                <a:solidFill>
                  <a:srgbClr val="FFFFFF"/>
                </a:solidFill>
                <a:latin typeface="Aptos"/>
                <a:ea typeface="Aptos"/>
                <a:cs typeface="Aptos"/>
              </a:rPr>
              <a:t>and a Raspberry Pi.</a:t>
            </a:r>
          </a:p>
        </p:txBody>
      </p:sp>
      <p:sp>
        <p:nvSpPr>
          <p:cNvPr id="6" name="">
            <a:extLst xmlns:a="http://schemas.openxmlformats.org/drawingml/2006/main">
              <a:ext uri="{FF2B5EF4-FFF2-40B4-BE49-F238E27FC236}">
                <a16:creationId xmlns:a16="http://schemas.microsoft.com/office/drawing/2014/main" id="{2B155A59-3335-4FED-94B1-943090F8E91D}"/>
              </a:ext>
            </a:extLst>
          </p:cNvPr>
          <p:cNvSpPr>
            <a:spLocks xmlns:a="http://schemas.openxmlformats.org/drawingml/2006/main" noGrp="1"/>
          </p:cNvSpPr>
          <p:nvPr/>
        </p:nvSpPr>
        <p:spPr>
          <a:xfrm xmlns:a="http://schemas.openxmlformats.org/drawingml/2006/main">
            <a:off x="533400" y="476250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2D583"/>
                </a:solidFill>
                <a:latin typeface="Aptos"/>
                <a:ea typeface="Aptos"/>
                <a:cs typeface="Aptos"/>
              </a:defRPr>
            </a:pPr>
            <a:r>
              <a:rPr sz="1800" b="1">
                <a:solidFill>
                  <a:srgbClr val="32D583"/>
                </a:solidFill>
                <a:latin typeface="Aptos"/>
                <a:ea typeface="Aptos"/>
                <a:cs typeface="Aptos"/>
              </a:rPr>
              <a:t>It is a story about managing an AI-assisted product-development process.</a:t>
            </a:r>
          </a:p>
        </p:txBody>
      </p:sp>
      <p:sp>
        <p:nvSpPr>
          <p:cNvPr id="7" name="page-number">
            <a:extLst xmlns:a="http://schemas.openxmlformats.org/drawingml/2006/main">
              <a:ext uri="{FF2B5EF4-FFF2-40B4-BE49-F238E27FC236}">
                <a16:creationId xmlns:a16="http://schemas.microsoft.com/office/drawing/2014/main" id="{398FEC17-A8FD-4ABF-9C49-C42C8B4E1F21}"/>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9</a:t>
            </a:r>
          </a:p>
        </p:txBody>
      </p:sp>
    </p:spTree>
    <p:extLst>
      <p:ext uri="{BB962C8B-B14F-4D97-AF65-F5344CB8AC3E}">
        <p14:creationId xmlns:p14="http://schemas.microsoft.com/office/powerpoint/2010/main" val="901816127"/>
      </p:ext>
    </p:extLst>
  </p:cSld>
</p:sld>
</file>

<file path=ppt/slides/slide10.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0" name="eyebrow-mark">
            <a:extLst xmlns:a="http://schemas.openxmlformats.org/drawingml/2006/main">
              <a:ext uri="{FF2B5EF4-FFF2-40B4-BE49-F238E27FC236}">
                <a16:creationId xmlns:a16="http://schemas.microsoft.com/office/drawing/2014/main" id="{611D7DB6-02A7-4AB8-87AF-181ADA1A047E}"/>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B46B0305-FF15-40FE-9A6E-46A47F4CD363}"/>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E43145"/>
                </a:solidFill>
                <a:latin typeface="Aptos"/>
                <a:ea typeface="Aptos"/>
                <a:cs typeface="Aptos"/>
              </a:defRPr>
            </a:pPr>
            <a:r>
              <a:rPr sz="1125" b="1">
                <a:solidFill>
                  <a:srgbClr val="E43145"/>
                </a:solidFill>
                <a:latin typeface="Aptos"/>
                <a:ea typeface="Aptos"/>
                <a:cs typeface="Aptos"/>
              </a:rPr>
              <a:t>WHY THIS PARTNERSHIP WORKED</a:t>
            </a:r>
          </a:p>
        </p:txBody>
      </p:sp>
      <p:sp>
        <p:nvSpPr>
          <p:cNvPr id="3" name="slide-title">
            <a:extLst xmlns:a="http://schemas.openxmlformats.org/drawingml/2006/main">
              <a:ext uri="{FF2B5EF4-FFF2-40B4-BE49-F238E27FC236}">
                <a16:creationId xmlns:a16="http://schemas.microsoft.com/office/drawing/2014/main" id="{7F22E65B-EF90-4572-9703-44BEDEF0E0BB}"/>
              </a:ext>
            </a:extLst>
          </p:cNvPr>
          <p:cNvSpPr>
            <a:spLocks xmlns:a="http://schemas.openxmlformats.org/drawingml/2006/main" noGrp="1"/>
          </p:cNvSpPr>
          <p:nvPr/>
        </p:nvSpPr>
        <p:spPr>
          <a:xfrm xmlns:a="http://schemas.openxmlformats.org/drawingml/2006/main">
            <a:off x="514350" y="7239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202F"/>
                </a:solidFill>
                <a:latin typeface="Aptos"/>
                <a:ea typeface="Aptos"/>
                <a:cs typeface="Aptos"/>
              </a:defRPr>
            </a:pPr>
            <a:r>
              <a:rPr sz="3000" b="1">
                <a:solidFill>
                  <a:srgbClr val="10202F"/>
                </a:solidFill>
                <a:latin typeface="Aptos"/>
                <a:ea typeface="Aptos"/>
                <a:cs typeface="Aptos"/>
              </a:rPr>
              <a:t>Codex joined the project where it lived.</a:t>
            </a:r>
          </a:p>
        </p:txBody>
      </p:sp>
      <p:sp>
        <p:nvSpPr>
          <p:cNvPr id="4" name="">
            <a:extLst xmlns:a="http://schemas.openxmlformats.org/drawingml/2006/main">
              <a:ext uri="{FF2B5EF4-FFF2-40B4-BE49-F238E27FC236}">
                <a16:creationId xmlns:a16="http://schemas.microsoft.com/office/drawing/2014/main" id="{43A9EDFF-8D7F-4983-BB44-ADF07F48ABD1}"/>
              </a:ext>
            </a:extLst>
          </p:cNvPr>
          <p:cNvSpPr>
            <a:spLocks xmlns:a="http://schemas.openxmlformats.org/drawingml/2006/main" noGrp="1"/>
          </p:cNvSpPr>
          <p:nvPr/>
        </p:nvSpPr>
        <p:spPr>
          <a:xfrm xmlns:a="http://schemas.openxmlformats.org/drawingml/2006/main">
            <a:off x="533400" y="146685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58697A"/>
                </a:solidFill>
                <a:latin typeface="Aptos"/>
                <a:ea typeface="Aptos"/>
                <a:cs typeface="Aptos"/>
              </a:defRPr>
            </a:pPr>
            <a:r>
              <a:rPr sz="2175" b="1">
                <a:solidFill>
                  <a:srgbClr val="58697A"/>
                </a:solidFill>
                <a:latin typeface="Aptos"/>
                <a:ea typeface="Aptos"/>
                <a:cs typeface="Aptos"/>
              </a:rPr>
              <a:t>Context connected the specification to reality.</a:t>
            </a:r>
          </a:p>
        </p:txBody>
      </p:sp>
      <p:sp>
        <p:nvSpPr>
          <p:cNvPr id="5" name="">
            <a:extLst xmlns:a="http://schemas.openxmlformats.org/drawingml/2006/main">
              <a:ext uri="{FF2B5EF4-FFF2-40B4-BE49-F238E27FC236}">
                <a16:creationId xmlns:a16="http://schemas.microsoft.com/office/drawing/2014/main" id="{8D5C617C-C8AB-4E71-B64A-BD0F0DCF87CA}"/>
              </a:ext>
            </a:extLst>
          </p:cNvPr>
          <p:cNvSpPr>
            <a:spLocks xmlns:a="http://schemas.openxmlformats.org/drawingml/2006/main" noGrp="1"/>
          </p:cNvSpPr>
          <p:nvPr/>
        </p:nvSpPr>
        <p:spPr>
          <a:xfrm xmlns:a="http://schemas.openxmlformats.org/drawingml/2006/main">
            <a:off x="552450" y="2686050"/>
            <a:ext cx="114300" cy="114300"/>
          </a:xfrm>
          <a:prstGeom xmlns:a="http://schemas.openxmlformats.org/drawingml/2006/main" prst="roundRect">
            <a:avLst>
              <a:gd name="adj" fmla="val 50000"/>
            </a:avLst>
          </a:prstGeom>
          <a:solidFill xmlns:a="http://schemas.openxmlformats.org/drawingml/2006/main">
            <a:srgbClr val="E4314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526014-4315-461D-B46E-CD533182FFE1}"/>
              </a:ext>
            </a:extLst>
          </p:cNvPr>
          <p:cNvSpPr>
            <a:spLocks xmlns:a="http://schemas.openxmlformats.org/drawingml/2006/main" noGrp="1"/>
          </p:cNvSpPr>
          <p:nvPr/>
        </p:nvSpPr>
        <p:spPr>
          <a:xfrm xmlns:a="http://schemas.openxmlformats.org/drawingml/2006/main">
            <a:off x="819150" y="25622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202F"/>
                </a:solidFill>
                <a:latin typeface="Aptos"/>
                <a:ea typeface="Aptos"/>
                <a:cs typeface="Aptos"/>
              </a:defRPr>
            </a:pPr>
            <a:r>
              <a:rPr sz="1725" b="1">
                <a:solidFill>
                  <a:srgbClr val="10202F"/>
                </a:solidFill>
                <a:latin typeface="Aptos"/>
                <a:ea typeface="Aptos"/>
                <a:cs typeface="Aptos"/>
              </a:rPr>
              <a:t>Source code</a:t>
            </a:r>
          </a:p>
        </p:txBody>
      </p:sp>
      <p:sp>
        <p:nvSpPr>
          <p:cNvPr id="7" name="">
            <a:extLst xmlns:a="http://schemas.openxmlformats.org/drawingml/2006/main">
              <a:ext uri="{FF2B5EF4-FFF2-40B4-BE49-F238E27FC236}">
                <a16:creationId xmlns:a16="http://schemas.microsoft.com/office/drawing/2014/main" id="{DBFB1B0D-8EC5-4D4C-B8A6-E603F1EC1431}"/>
              </a:ext>
            </a:extLst>
          </p:cNvPr>
          <p:cNvSpPr>
            <a:spLocks xmlns:a="http://schemas.openxmlformats.org/drawingml/2006/main" noGrp="1"/>
          </p:cNvSpPr>
          <p:nvPr/>
        </p:nvSpPr>
        <p:spPr>
          <a:xfrm xmlns:a="http://schemas.openxmlformats.org/drawingml/2006/main">
            <a:off x="552450" y="3238500"/>
            <a:ext cx="114300" cy="114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453A70-6984-4F5B-8A36-15A6004665D0}"/>
              </a:ext>
            </a:extLst>
          </p:cNvPr>
          <p:cNvSpPr>
            <a:spLocks xmlns:a="http://schemas.openxmlformats.org/drawingml/2006/main" noGrp="1"/>
          </p:cNvSpPr>
          <p:nvPr/>
        </p:nvSpPr>
        <p:spPr>
          <a:xfrm xmlns:a="http://schemas.openxmlformats.org/drawingml/2006/main">
            <a:off x="819150" y="31146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202F"/>
                </a:solidFill>
                <a:latin typeface="Aptos"/>
                <a:ea typeface="Aptos"/>
                <a:cs typeface="Aptos"/>
              </a:defRPr>
            </a:pPr>
            <a:r>
              <a:rPr sz="1725" b="0">
                <a:solidFill>
                  <a:srgbClr val="10202F"/>
                </a:solidFill>
                <a:latin typeface="Aptos"/>
                <a:ea typeface="Aptos"/>
                <a:cs typeface="Aptos"/>
              </a:rPr>
              <a:t>Running services</a:t>
            </a:r>
          </a:p>
        </p:txBody>
      </p:sp>
      <p:sp>
        <p:nvSpPr>
          <p:cNvPr id="9" name="">
            <a:extLst xmlns:a="http://schemas.openxmlformats.org/drawingml/2006/main">
              <a:ext uri="{FF2B5EF4-FFF2-40B4-BE49-F238E27FC236}">
                <a16:creationId xmlns:a16="http://schemas.microsoft.com/office/drawing/2014/main" id="{F7B5C393-85D4-427A-AA53-3BF781E2388C}"/>
              </a:ext>
            </a:extLst>
          </p:cNvPr>
          <p:cNvSpPr>
            <a:spLocks xmlns:a="http://schemas.openxmlformats.org/drawingml/2006/main" noGrp="1"/>
          </p:cNvSpPr>
          <p:nvPr/>
        </p:nvSpPr>
        <p:spPr>
          <a:xfrm xmlns:a="http://schemas.openxmlformats.org/drawingml/2006/main">
            <a:off x="552450" y="3790950"/>
            <a:ext cx="114300" cy="114300"/>
          </a:xfrm>
          <a:prstGeom xmlns:a="http://schemas.openxmlformats.org/drawingml/2006/main" prst="roundRect">
            <a:avLst>
              <a:gd name="adj" fmla="val 50000"/>
            </a:avLst>
          </a:prstGeom>
          <a:solidFill xmlns:a="http://schemas.openxmlformats.org/drawingml/2006/main">
            <a:srgbClr val="32D58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064FE8-C7AB-424A-8D1C-050ABB7D8ECD}"/>
              </a:ext>
            </a:extLst>
          </p:cNvPr>
          <p:cNvSpPr>
            <a:spLocks xmlns:a="http://schemas.openxmlformats.org/drawingml/2006/main" noGrp="1"/>
          </p:cNvSpPr>
          <p:nvPr/>
        </p:nvSpPr>
        <p:spPr>
          <a:xfrm xmlns:a="http://schemas.openxmlformats.org/drawingml/2006/main">
            <a:off x="819150" y="36671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202F"/>
                </a:solidFill>
                <a:latin typeface="Aptos"/>
                <a:ea typeface="Aptos"/>
                <a:cs typeface="Aptos"/>
              </a:defRPr>
            </a:pPr>
            <a:r>
              <a:rPr sz="1725" b="0">
                <a:solidFill>
                  <a:srgbClr val="10202F"/>
                </a:solidFill>
                <a:latin typeface="Aptos"/>
                <a:ea typeface="Aptos"/>
                <a:cs typeface="Aptos"/>
              </a:rPr>
              <a:t>SQLite history</a:t>
            </a:r>
          </a:p>
        </p:txBody>
      </p:sp>
      <p:sp>
        <p:nvSpPr>
          <p:cNvPr id="11" name="">
            <a:extLst xmlns:a="http://schemas.openxmlformats.org/drawingml/2006/main">
              <a:ext uri="{FF2B5EF4-FFF2-40B4-BE49-F238E27FC236}">
                <a16:creationId xmlns:a16="http://schemas.microsoft.com/office/drawing/2014/main" id="{9797B329-EEE6-48E6-BB78-CF4B43C49D5B}"/>
              </a:ext>
            </a:extLst>
          </p:cNvPr>
          <p:cNvSpPr>
            <a:spLocks xmlns:a="http://schemas.openxmlformats.org/drawingml/2006/main" noGrp="1"/>
          </p:cNvSpPr>
          <p:nvPr/>
        </p:nvSpPr>
        <p:spPr>
          <a:xfrm xmlns:a="http://schemas.openxmlformats.org/drawingml/2006/main">
            <a:off x="552450" y="4343400"/>
            <a:ext cx="114300" cy="114300"/>
          </a:xfrm>
          <a:prstGeom xmlns:a="http://schemas.openxmlformats.org/drawingml/2006/main" prst="roundRect">
            <a:avLst>
              <a:gd name="adj" fmla="val 50000"/>
            </a:avLst>
          </a:prstGeom>
          <a:solidFill xmlns:a="http://schemas.openxmlformats.org/drawingml/2006/main">
            <a:srgbClr val="4F8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F81EDF-0595-4828-AFE3-12DC5FFBD59A}"/>
              </a:ext>
            </a:extLst>
          </p:cNvPr>
          <p:cNvSpPr>
            <a:spLocks xmlns:a="http://schemas.openxmlformats.org/drawingml/2006/main" noGrp="1"/>
          </p:cNvSpPr>
          <p:nvPr/>
        </p:nvSpPr>
        <p:spPr>
          <a:xfrm xmlns:a="http://schemas.openxmlformats.org/drawingml/2006/main">
            <a:off x="819150" y="4219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202F"/>
                </a:solidFill>
                <a:latin typeface="Aptos"/>
                <a:ea typeface="Aptos"/>
                <a:cs typeface="Aptos"/>
              </a:defRPr>
            </a:pPr>
            <a:r>
              <a:rPr sz="1725" b="0">
                <a:solidFill>
                  <a:srgbClr val="10202F"/>
                </a:solidFill>
                <a:latin typeface="Aptos"/>
                <a:ea typeface="Aptos"/>
                <a:cs typeface="Aptos"/>
              </a:rPr>
              <a:t>Device telemetry</a:t>
            </a:r>
          </a:p>
        </p:txBody>
      </p:sp>
      <p:sp>
        <p:nvSpPr>
          <p:cNvPr id="13" name="">
            <a:extLst xmlns:a="http://schemas.openxmlformats.org/drawingml/2006/main">
              <a:ext uri="{FF2B5EF4-FFF2-40B4-BE49-F238E27FC236}">
                <a16:creationId xmlns:a16="http://schemas.microsoft.com/office/drawing/2014/main" id="{1F69EB9D-6D05-44EB-BC25-375AC8DB498A}"/>
              </a:ext>
            </a:extLst>
          </p:cNvPr>
          <p:cNvSpPr>
            <a:spLocks xmlns:a="http://schemas.openxmlformats.org/drawingml/2006/main" noGrp="1"/>
          </p:cNvSpPr>
          <p:nvPr/>
        </p:nvSpPr>
        <p:spPr>
          <a:xfrm xmlns:a="http://schemas.openxmlformats.org/drawingml/2006/main">
            <a:off x="552450" y="4895850"/>
            <a:ext cx="114300" cy="114300"/>
          </a:xfrm>
          <a:prstGeom xmlns:a="http://schemas.openxmlformats.org/drawingml/2006/main" prst="roundRect">
            <a:avLst>
              <a:gd name="adj" fmla="val 50000"/>
            </a:avLst>
          </a:prstGeom>
          <a:solidFill xmlns:a="http://schemas.openxmlformats.org/drawingml/2006/main">
            <a:srgbClr val="071A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54C9D0-0A9D-4C7E-B2D3-6243A1A80FC7}"/>
              </a:ext>
            </a:extLst>
          </p:cNvPr>
          <p:cNvSpPr>
            <a:spLocks xmlns:a="http://schemas.openxmlformats.org/drawingml/2006/main" noGrp="1"/>
          </p:cNvSpPr>
          <p:nvPr/>
        </p:nvSpPr>
        <p:spPr>
          <a:xfrm xmlns:a="http://schemas.openxmlformats.org/drawingml/2006/main">
            <a:off x="819150" y="47720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10202F"/>
                </a:solidFill>
                <a:latin typeface="Aptos"/>
                <a:ea typeface="Aptos"/>
                <a:cs typeface="Aptos"/>
              </a:defRPr>
            </a:pPr>
            <a:r>
              <a:rPr sz="1725" b="0">
                <a:solidFill>
                  <a:srgbClr val="10202F"/>
                </a:solidFill>
                <a:latin typeface="Aptos"/>
                <a:ea typeface="Aptos"/>
                <a:cs typeface="Aptos"/>
              </a:rPr>
              <a:t>Git + session history</a:t>
            </a:r>
          </a:p>
        </p:txBody>
      </p:sp>
      <p:sp>
        <p:nvSpPr>
          <p:cNvPr id="15" name="">
            <a:extLst xmlns:a="http://schemas.openxmlformats.org/drawingml/2006/main">
              <a:ext uri="{FF2B5EF4-FFF2-40B4-BE49-F238E27FC236}">
                <a16:creationId xmlns:a16="http://schemas.microsoft.com/office/drawing/2014/main" id="{5377D6CC-0FC0-40C6-BC66-BF976D20016F}"/>
              </a:ext>
            </a:extLst>
          </p:cNvPr>
          <p:cNvSpPr>
            <a:spLocks xmlns:a="http://schemas.openxmlformats.org/drawingml/2006/main" noGrp="1"/>
          </p:cNvSpPr>
          <p:nvPr/>
        </p:nvSpPr>
        <p:spPr>
          <a:xfrm xmlns:a="http://schemas.openxmlformats.org/drawingml/2006/main">
            <a:off x="5334000" y="1352550"/>
            <a:ext cx="6286500" cy="4819650"/>
          </a:xfrm>
          <a:prstGeom xmlns:a="http://schemas.openxmlformats.org/drawingml/2006/main" prst="roundRect">
            <a:avLst>
              <a:gd name="adj" fmla="val 2372"/>
            </a:avLst>
          </a:prstGeom>
          <a:solidFill xmlns:a="http://schemas.openxmlformats.org/drawingml/2006/main">
            <a:srgbClr val="FFFFFF"/>
          </a:solidFill>
          <a:ln xmlns:a="http://schemas.openxmlformats.org/drawingml/2006/main" w="0">
            <a:no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5a35cff876b4e8c"/>
          <a:srcRect xmlns:a="http://schemas.openxmlformats.org/drawingml/2006/main" l="12846" t="0" r="12846" b="0"/>
          <a:stretch xmlns:a="http://schemas.openxmlformats.org/drawingml/2006/main">
            <a:fillRect l="0" t="0" r="0" b="0"/>
          </a:stretch>
        </p:blipFill>
        <p:spPr>
          <a:xfrm xmlns:a="http://schemas.openxmlformats.org/drawingml/2006/main">
            <a:off x="5572125" y="1562100"/>
            <a:ext cx="5810250" cy="4400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5BBAD75-A55A-4FE1-9723-BFDCC7CE152F}"/>
              </a:ext>
            </a:extLst>
          </p:cNvPr>
          <p:cNvSpPr>
            <a:spLocks xmlns:a="http://schemas.openxmlformats.org/drawingml/2006/main" noGrp="1"/>
          </p:cNvSpPr>
          <p:nvPr/>
        </p:nvSpPr>
        <p:spPr>
          <a:xfrm xmlns:a="http://schemas.openxmlformats.org/drawingml/2006/main">
            <a:off x="8096250" y="4724400"/>
            <a:ext cx="2238375" cy="685800"/>
          </a:xfrm>
          <a:prstGeom xmlns:a="http://schemas.openxmlformats.org/drawingml/2006/main" prst="roundRect">
            <a:avLst>
              <a:gd name="adj" fmla="val 11111"/>
            </a:avLst>
          </a:prstGeom>
          <a:solidFill xmlns:a="http://schemas.openxmlformats.org/drawingml/2006/main">
            <a:srgbClr val="071A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A6B88F-4404-43DB-9309-C8C9F6E87AFF}"/>
              </a:ext>
            </a:extLst>
          </p:cNvPr>
          <p:cNvSpPr>
            <a:spLocks xmlns:a="http://schemas.openxmlformats.org/drawingml/2006/main" noGrp="1"/>
          </p:cNvSpPr>
          <p:nvPr/>
        </p:nvSpPr>
        <p:spPr>
          <a:xfrm xmlns:a="http://schemas.openxmlformats.org/drawingml/2006/main">
            <a:off x="8286750" y="4829175"/>
            <a:ext cx="1857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32D583"/>
                </a:solidFill>
                <a:latin typeface="Aptos"/>
                <a:ea typeface="Aptos"/>
                <a:cs typeface="Aptos"/>
              </a:defRPr>
            </a:pPr>
            <a:r>
              <a:rPr sz="1350" b="1">
                <a:solidFill>
                  <a:srgbClr val="32D583"/>
                </a:solidFill>
                <a:latin typeface="Aptos"/>
                <a:ea typeface="Aptos"/>
                <a:cs typeface="Aptos"/>
              </a:rPr>
              <a:t>CODEX CLI</a:t>
            </a:r>
          </a:p>
          <a:p xmlns:a="http://schemas.openxmlformats.org/drawingml/2006/main">
            <a:pPr algn="ctr">
              <a:defRPr sz="1350" b="1">
                <a:solidFill>
                  <a:srgbClr val="32D583"/>
                </a:solidFill>
                <a:latin typeface="Aptos"/>
                <a:ea typeface="Aptos"/>
                <a:cs typeface="Aptos"/>
              </a:defRPr>
            </a:pPr>
            <a:r>
              <a:rPr sz="1350" b="1">
                <a:solidFill>
                  <a:srgbClr val="32D583"/>
                </a:solidFill>
                <a:latin typeface="Aptos"/>
                <a:ea typeface="Aptos"/>
                <a:cs typeface="Aptos"/>
              </a:rPr>
              <a:t>ON THE PiSERVER</a:t>
            </a:r>
          </a:p>
        </p:txBody>
      </p:sp>
      <p:sp>
        <p:nvSpPr>
          <p:cNvPr id="19" name="page-number">
            <a:extLst xmlns:a="http://schemas.openxmlformats.org/drawingml/2006/main">
              <a:ext uri="{FF2B5EF4-FFF2-40B4-BE49-F238E27FC236}">
                <a16:creationId xmlns:a16="http://schemas.microsoft.com/office/drawing/2014/main" id="{2072820C-B0D2-438B-B821-D9BB9FAD7AF6}"/>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8697A"/>
                </a:solidFill>
                <a:latin typeface="Aptos"/>
                <a:ea typeface="Aptos"/>
                <a:cs typeface="Aptos"/>
              </a:defRPr>
            </a:pPr>
            <a:r>
              <a:rPr sz="825" b="0">
                <a:solidFill>
                  <a:srgbClr val="58697A"/>
                </a:solidFill>
                <a:latin typeface="Aptos"/>
                <a:ea typeface="Aptos"/>
                <a:cs typeface="Aptos"/>
              </a:rPr>
              <a:t>10</a:t>
            </a:r>
          </a:p>
        </p:txBody>
      </p:sp>
    </p:spTree>
    <p:extLst>
      <p:ext uri="{BB962C8B-B14F-4D97-AF65-F5344CB8AC3E}">
        <p14:creationId xmlns:p14="http://schemas.microsoft.com/office/powerpoint/2010/main" val="1218643389"/>
      </p:ext>
    </p:extLst>
  </p:cSld>
</p:sld>
</file>

<file path=ppt/slides/slide1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2" name="eyebrow-mark">
            <a:extLst xmlns:a="http://schemas.openxmlformats.org/drawingml/2006/main">
              <a:ext uri="{FF2B5EF4-FFF2-40B4-BE49-F238E27FC236}">
                <a16:creationId xmlns:a16="http://schemas.microsoft.com/office/drawing/2014/main" id="{42D366E2-A626-4631-B51E-644E856A02D2}"/>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32D583"/>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2573B71E-57C9-496E-B998-EB43295F3D1D}"/>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2D583"/>
                </a:solidFill>
                <a:latin typeface="Aptos"/>
                <a:ea typeface="Aptos"/>
                <a:cs typeface="Aptos"/>
              </a:defRPr>
            </a:pPr>
            <a:r>
              <a:rPr sz="1125" b="1">
                <a:solidFill>
                  <a:srgbClr val="32D583"/>
                </a:solidFill>
                <a:latin typeface="Aptos"/>
                <a:ea typeface="Aptos"/>
                <a:cs typeface="Aptos"/>
              </a:rPr>
              <a:t>THE ROLE CHANGE</a:t>
            </a:r>
          </a:p>
        </p:txBody>
      </p:sp>
      <p:sp>
        <p:nvSpPr>
          <p:cNvPr id="3" name="">
            <a:extLst xmlns:a="http://schemas.openxmlformats.org/drawingml/2006/main">
              <a:ext uri="{FF2B5EF4-FFF2-40B4-BE49-F238E27FC236}">
                <a16:creationId xmlns:a16="http://schemas.microsoft.com/office/drawing/2014/main" id="{84AF4016-DECB-4CD4-B23C-8DA62BB94E54}"/>
              </a:ext>
            </a:extLst>
          </p:cNvPr>
          <p:cNvSpPr>
            <a:spLocks xmlns:a="http://schemas.openxmlformats.org/drawingml/2006/main" noGrp="1"/>
          </p:cNvSpPr>
          <p:nvPr/>
        </p:nvSpPr>
        <p:spPr>
          <a:xfrm xmlns:a="http://schemas.openxmlformats.org/drawingml/2006/main">
            <a:off x="514350" y="1000125"/>
            <a:ext cx="514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I managed the product.</a:t>
            </a:r>
          </a:p>
        </p:txBody>
      </p:sp>
      <p:sp>
        <p:nvSpPr>
          <p:cNvPr id="4" name="">
            <a:extLst xmlns:a="http://schemas.openxmlformats.org/drawingml/2006/main">
              <a:ext uri="{FF2B5EF4-FFF2-40B4-BE49-F238E27FC236}">
                <a16:creationId xmlns:a16="http://schemas.microsoft.com/office/drawing/2014/main" id="{F5354878-9D73-4676-AE42-E97DB7856AE4}"/>
              </a:ext>
            </a:extLst>
          </p:cNvPr>
          <p:cNvSpPr>
            <a:spLocks xmlns:a="http://schemas.openxmlformats.org/drawingml/2006/main" noGrp="1"/>
          </p:cNvSpPr>
          <p:nvPr/>
        </p:nvSpPr>
        <p:spPr>
          <a:xfrm xmlns:a="http://schemas.openxmlformats.org/drawingml/2006/main">
            <a:off x="6153150" y="1000125"/>
            <a:ext cx="542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Codex carried the technical work.</a:t>
            </a:r>
          </a:p>
        </p:txBody>
      </p:sp>
      <p:sp>
        <p:nvSpPr>
          <p:cNvPr id="5" name="">
            <a:extLst xmlns:a="http://schemas.openxmlformats.org/drawingml/2006/main">
              <a:ext uri="{FF2B5EF4-FFF2-40B4-BE49-F238E27FC236}">
                <a16:creationId xmlns:a16="http://schemas.microsoft.com/office/drawing/2014/main" id="{F44DEA18-0853-43E7-99A1-0CD07195A2FC}"/>
              </a:ext>
            </a:extLst>
          </p:cNvPr>
          <p:cNvSpPr>
            <a:spLocks xmlns:a="http://schemas.openxmlformats.org/drawingml/2006/main" noGrp="1"/>
          </p:cNvSpPr>
          <p:nvPr/>
        </p:nvSpPr>
        <p:spPr>
          <a:xfrm xmlns:a="http://schemas.openxmlformats.org/drawingml/2006/main">
            <a:off x="5886450" y="990600"/>
            <a:ext cx="47625" cy="47625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3FE0EB9-5108-4CAB-9AB1-182D66D2B252}"/>
              </a:ext>
            </a:extLst>
          </p:cNvPr>
          <p:cNvSpPr>
            <a:spLocks xmlns:a="http://schemas.openxmlformats.org/drawingml/2006/main" noGrp="1"/>
          </p:cNvSpPr>
          <p:nvPr/>
        </p:nvSpPr>
        <p:spPr>
          <a:xfrm xmlns:a="http://schemas.openxmlformats.org/drawingml/2006/main">
            <a:off x="533400" y="2190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2D583"/>
                </a:solidFill>
                <a:latin typeface="Aptos"/>
                <a:ea typeface="Aptos"/>
                <a:cs typeface="Aptos"/>
              </a:defRPr>
            </a:pPr>
            <a:r>
              <a:rPr sz="1350" b="1">
                <a:solidFill>
                  <a:srgbClr val="32D583"/>
                </a:solidFill>
                <a:latin typeface="Aptos"/>
                <a:ea typeface="Aptos"/>
                <a:cs typeface="Aptos"/>
              </a:rPr>
              <a:t>THE HUMAN ROLE</a:t>
            </a:r>
          </a:p>
        </p:txBody>
      </p:sp>
      <p:sp>
        <p:nvSpPr>
          <p:cNvPr id="7" name="">
            <a:extLst xmlns:a="http://schemas.openxmlformats.org/drawingml/2006/main">
              <a:ext uri="{FF2B5EF4-FFF2-40B4-BE49-F238E27FC236}">
                <a16:creationId xmlns:a16="http://schemas.microsoft.com/office/drawing/2014/main" id="{C3AC622E-213D-4BE4-8FD4-451B9AE9417A}"/>
              </a:ext>
            </a:extLst>
          </p:cNvPr>
          <p:cNvSpPr>
            <a:spLocks xmlns:a="http://schemas.openxmlformats.org/drawingml/2006/main" noGrp="1"/>
          </p:cNvSpPr>
          <p:nvPr/>
        </p:nvSpPr>
        <p:spPr>
          <a:xfrm xmlns:a="http://schemas.openxmlformats.org/drawingml/2006/main">
            <a:off x="533400" y="2619375"/>
            <a:ext cx="428625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Problem</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Priorities</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Physical context</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Risk decisions</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Approval</a:t>
            </a:r>
          </a:p>
        </p:txBody>
      </p:sp>
      <p:sp>
        <p:nvSpPr>
          <p:cNvPr id="8" name="">
            <a:extLst xmlns:a="http://schemas.openxmlformats.org/drawingml/2006/main">
              <a:ext uri="{FF2B5EF4-FFF2-40B4-BE49-F238E27FC236}">
                <a16:creationId xmlns:a16="http://schemas.microsoft.com/office/drawing/2014/main" id="{1FB3EB31-D3CD-40C0-8824-525F1838B0CB}"/>
              </a:ext>
            </a:extLst>
          </p:cNvPr>
          <p:cNvSpPr>
            <a:spLocks xmlns:a="http://schemas.openxmlformats.org/drawingml/2006/main" noGrp="1"/>
          </p:cNvSpPr>
          <p:nvPr/>
        </p:nvSpPr>
        <p:spPr>
          <a:xfrm xmlns:a="http://schemas.openxmlformats.org/drawingml/2006/main">
            <a:off x="6172200" y="2190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59E0B"/>
                </a:solidFill>
                <a:latin typeface="Aptos"/>
                <a:ea typeface="Aptos"/>
                <a:cs typeface="Aptos"/>
              </a:defRPr>
            </a:pPr>
            <a:r>
              <a:rPr sz="1350" b="1">
                <a:solidFill>
                  <a:srgbClr val="F59E0B"/>
                </a:solidFill>
                <a:latin typeface="Aptos"/>
                <a:ea typeface="Aptos"/>
                <a:cs typeface="Aptos"/>
              </a:rPr>
              <a:t>THE AI ROLE</a:t>
            </a:r>
          </a:p>
        </p:txBody>
      </p:sp>
      <p:sp>
        <p:nvSpPr>
          <p:cNvPr id="9" name="">
            <a:extLst xmlns:a="http://schemas.openxmlformats.org/drawingml/2006/main">
              <a:ext uri="{FF2B5EF4-FFF2-40B4-BE49-F238E27FC236}">
                <a16:creationId xmlns:a16="http://schemas.microsoft.com/office/drawing/2014/main" id="{B3E048A7-780C-4A50-A29C-04D86098044A}"/>
              </a:ext>
            </a:extLst>
          </p:cNvPr>
          <p:cNvSpPr>
            <a:spLocks xmlns:a="http://schemas.openxmlformats.org/drawingml/2006/main" noGrp="1"/>
          </p:cNvSpPr>
          <p:nvPr/>
        </p:nvSpPr>
        <p:spPr>
          <a:xfrm xmlns:a="http://schemas.openxmlformats.org/drawingml/2006/main">
            <a:off x="6172200" y="2619375"/>
            <a:ext cx="4953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Development</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Configuration</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Testing</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Documentation</a:t>
            </a:r>
          </a:p>
          <a:p xmlns:a="http://schemas.openxmlformats.org/drawingml/2006/main">
            <a:pPr algn="l">
              <a:defRPr sz="2400" b="1">
                <a:solidFill>
                  <a:srgbClr val="F7F2E8"/>
                </a:solidFill>
                <a:latin typeface="Aptos"/>
                <a:ea typeface="Aptos"/>
                <a:cs typeface="Aptos"/>
              </a:defRPr>
            </a:pPr>
            <a:r>
              <a:rPr sz="2400" b="1">
                <a:solidFill>
                  <a:srgbClr val="F7F2E8"/>
                </a:solidFill>
                <a:latin typeface="Aptos"/>
                <a:ea typeface="Aptos"/>
                <a:cs typeface="Aptos"/>
              </a:rPr>
              <a:t>Operations evidence</a:t>
            </a:r>
          </a:p>
        </p:txBody>
      </p:sp>
      <p:sp>
        <p:nvSpPr>
          <p:cNvPr id="10" name="">
            <a:extLst xmlns:a="http://schemas.openxmlformats.org/drawingml/2006/main">
              <a:ext uri="{FF2B5EF4-FFF2-40B4-BE49-F238E27FC236}">
                <a16:creationId xmlns:a16="http://schemas.microsoft.com/office/drawing/2014/main" id="{B2F5AD52-E2A3-46D4-9DA8-46D59B2E633B}"/>
              </a:ext>
            </a:extLst>
          </p:cNvPr>
          <p:cNvSpPr>
            <a:spLocks xmlns:a="http://schemas.openxmlformats.org/drawingml/2006/main" noGrp="1"/>
          </p:cNvSpPr>
          <p:nvPr/>
        </p:nvSpPr>
        <p:spPr>
          <a:xfrm xmlns:a="http://schemas.openxmlformats.org/drawingml/2006/main">
            <a:off x="533400" y="60198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E43145"/>
                </a:solidFill>
                <a:latin typeface="Aptos"/>
                <a:ea typeface="Aptos"/>
                <a:cs typeface="Aptos"/>
              </a:defRPr>
            </a:pPr>
            <a:r>
              <a:rPr sz="1725" b="1">
                <a:solidFill>
                  <a:srgbClr val="E43145"/>
                </a:solidFill>
                <a:latin typeface="Aptos"/>
                <a:ea typeface="Aptos"/>
                <a:cs typeface="Aptos"/>
              </a:rPr>
              <a:t>Responsibility stays human.</a:t>
            </a:r>
          </a:p>
        </p:txBody>
      </p:sp>
      <p:sp>
        <p:nvSpPr>
          <p:cNvPr id="11" name="page-number">
            <a:extLst xmlns:a="http://schemas.openxmlformats.org/drawingml/2006/main">
              <a:ext uri="{FF2B5EF4-FFF2-40B4-BE49-F238E27FC236}">
                <a16:creationId xmlns:a16="http://schemas.microsoft.com/office/drawing/2014/main" id="{9DAD07A6-FB11-47B8-94A1-64ECF16B54C9}"/>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11</a:t>
            </a:r>
          </a:p>
        </p:txBody>
      </p:sp>
    </p:spTree>
    <p:extLst>
      <p:ext uri="{BB962C8B-B14F-4D97-AF65-F5344CB8AC3E}">
        <p14:creationId xmlns:p14="http://schemas.microsoft.com/office/powerpoint/2010/main" val="1030383487"/>
      </p:ext>
    </p:extLst>
  </p:cSld>
</p:sld>
</file>

<file path=ppt/slides/slide1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6" name="eyebrow-mark">
            <a:extLst xmlns:a="http://schemas.openxmlformats.org/drawingml/2006/main">
              <a:ext uri="{FF2B5EF4-FFF2-40B4-BE49-F238E27FC236}">
                <a16:creationId xmlns:a16="http://schemas.microsoft.com/office/drawing/2014/main" id="{CC7F8BDB-B8C0-4F6F-875B-AC2D123FB660}"/>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E7F8882-6076-4F13-BDA6-BC6CDE87B645}"/>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F59E0B"/>
                </a:solidFill>
                <a:latin typeface="Aptos"/>
                <a:ea typeface="Aptos"/>
                <a:cs typeface="Aptos"/>
              </a:defRPr>
            </a:pPr>
            <a:r>
              <a:rPr sz="1125" b="1">
                <a:solidFill>
                  <a:srgbClr val="F59E0B"/>
                </a:solidFill>
                <a:latin typeface="Aptos"/>
                <a:ea typeface="Aptos"/>
                <a:cs typeface="Aptos"/>
              </a:rPr>
              <a:t>AI ADDED IDEAS</a:t>
            </a:r>
          </a:p>
        </p:txBody>
      </p:sp>
      <p:sp>
        <p:nvSpPr>
          <p:cNvPr id="3" name="slide-title">
            <a:extLst xmlns:a="http://schemas.openxmlformats.org/drawingml/2006/main">
              <a:ext uri="{FF2B5EF4-FFF2-40B4-BE49-F238E27FC236}">
                <a16:creationId xmlns:a16="http://schemas.microsoft.com/office/drawing/2014/main" id="{DFB3CE10-9124-4208-8E2B-DD742BA64D19}"/>
              </a:ext>
            </a:extLst>
          </p:cNvPr>
          <p:cNvSpPr>
            <a:spLocks xmlns:a="http://schemas.openxmlformats.org/drawingml/2006/main" noGrp="1"/>
          </p:cNvSpPr>
          <p:nvPr/>
        </p:nvSpPr>
        <p:spPr>
          <a:xfrm xmlns:a="http://schemas.openxmlformats.org/drawingml/2006/main">
            <a:off x="514350" y="7239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0202F"/>
                </a:solidFill>
                <a:latin typeface="Aptos"/>
                <a:ea typeface="Aptos"/>
                <a:cs typeface="Aptos"/>
              </a:defRPr>
            </a:pPr>
            <a:r>
              <a:rPr sz="3000" b="1">
                <a:solidFill>
                  <a:srgbClr val="10202F"/>
                </a:solidFill>
                <a:latin typeface="Aptos"/>
                <a:ea typeface="Aptos"/>
                <a:cs typeface="Aptos"/>
              </a:rPr>
              <a:t>Hidden problems became visible signals.</a:t>
            </a:r>
          </a:p>
        </p:txBody>
      </p:sp>
      <p:sp>
        <p:nvSpPr>
          <p:cNvPr id="4" name="">
            <a:extLst xmlns:a="http://schemas.openxmlformats.org/drawingml/2006/main">
              <a:ext uri="{FF2B5EF4-FFF2-40B4-BE49-F238E27FC236}">
                <a16:creationId xmlns:a16="http://schemas.microsoft.com/office/drawing/2014/main" id="{D2EF6FF1-8803-4D2C-AC48-BCBE6C364E86}"/>
              </a:ext>
            </a:extLst>
          </p:cNvPr>
          <p:cNvSpPr>
            <a:spLocks xmlns:a="http://schemas.openxmlformats.org/drawingml/2006/main" noGrp="1"/>
          </p:cNvSpPr>
          <p:nvPr/>
        </p:nvSpPr>
        <p:spPr>
          <a:xfrm xmlns:a="http://schemas.openxmlformats.org/drawingml/2006/main">
            <a:off x="400050" y="1409700"/>
            <a:ext cx="8524875" cy="4933950"/>
          </a:xfrm>
          <a:prstGeom xmlns:a="http://schemas.openxmlformats.org/drawingml/2006/main" prst="roundRect">
            <a:avLst>
              <a:gd name="adj" fmla="val 2317"/>
            </a:avLst>
          </a:prstGeom>
          <a:solidFill xmlns:a="http://schemas.openxmlformats.org/drawingml/2006/main">
            <a:srgbClr val="FFFFFF"/>
          </a:solidFill>
          <a:ln xmlns:a="http://schemas.openxmlformats.org/drawingml/2006/main" w="0">
            <a:no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03e62cdc32f4803"/>
          <a:stretch xmlns:a="http://schemas.openxmlformats.org/drawingml/2006/main"/>
        </p:blipFill>
        <p:spPr>
          <a:xfrm xmlns:a="http://schemas.openxmlformats.org/drawingml/2006/main">
            <a:off x="2098932" y="1571625"/>
            <a:ext cx="5136636" cy="4591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D752A5-9336-4E83-A3EC-45B55CC1D082}"/>
              </a:ext>
            </a:extLst>
          </p:cNvPr>
          <p:cNvSpPr>
            <a:spLocks xmlns:a="http://schemas.openxmlformats.org/drawingml/2006/main" noGrp="1"/>
          </p:cNvSpPr>
          <p:nvPr/>
        </p:nvSpPr>
        <p:spPr>
          <a:xfrm xmlns:a="http://schemas.openxmlformats.org/drawingml/2006/main">
            <a:off x="9334500" y="16573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E43145"/>
                </a:solidFill>
                <a:latin typeface="Aptos"/>
                <a:ea typeface="Aptos"/>
                <a:cs typeface="Aptos"/>
              </a:defRPr>
            </a:pPr>
            <a:r>
              <a:rPr sz="1650" b="1">
                <a:solidFill>
                  <a:srgbClr val="E43145"/>
                </a:solidFill>
                <a:latin typeface="Aptos"/>
                <a:ea typeface="Aptos"/>
                <a:cs typeface="Aptos"/>
              </a:rPr>
              <a:t>NOT JUST</a:t>
            </a:r>
          </a:p>
          <a:p xmlns:a="http://schemas.openxmlformats.org/drawingml/2006/main">
            <a:pPr algn="l">
              <a:defRPr sz="1650" b="1">
                <a:solidFill>
                  <a:srgbClr val="E43145"/>
                </a:solidFill>
                <a:latin typeface="Aptos"/>
                <a:ea typeface="Aptos"/>
                <a:cs typeface="Aptos"/>
              </a:defRPr>
            </a:pPr>
            <a:r>
              <a:rPr sz="1650" b="1">
                <a:solidFill>
                  <a:srgbClr val="E43145"/>
                </a:solidFill>
                <a:latin typeface="Aptos"/>
                <a:ea typeface="Aptos"/>
                <a:cs typeface="Aptos"/>
              </a:rPr>
              <a:t>TEMPERATURE</a:t>
            </a:r>
          </a:p>
        </p:txBody>
      </p:sp>
      <p:sp>
        <p:nvSpPr>
          <p:cNvPr id="7" name="">
            <a:extLst xmlns:a="http://schemas.openxmlformats.org/drawingml/2006/main">
              <a:ext uri="{FF2B5EF4-FFF2-40B4-BE49-F238E27FC236}">
                <a16:creationId xmlns:a16="http://schemas.microsoft.com/office/drawing/2014/main" id="{C178E5EF-1A9A-4465-B22C-07FE334711C6}"/>
              </a:ext>
            </a:extLst>
          </p:cNvPr>
          <p:cNvSpPr>
            <a:spLocks xmlns:a="http://schemas.openxmlformats.org/drawingml/2006/main" noGrp="1"/>
          </p:cNvSpPr>
          <p:nvPr/>
        </p:nvSpPr>
        <p:spPr>
          <a:xfrm xmlns:a="http://schemas.openxmlformats.org/drawingml/2006/main">
            <a:off x="9334500" y="2762250"/>
            <a:ext cx="114300" cy="419100"/>
          </a:xfrm>
          <a:prstGeom xmlns:a="http://schemas.openxmlformats.org/drawingml/2006/main" prst="rect">
            <a:avLst/>
          </a:prstGeom>
          <a:solidFill xmlns:a="http://schemas.openxmlformats.org/drawingml/2006/main">
            <a:srgbClr val="32D5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1A5694-F539-499F-B211-7CFC07D28D04}"/>
              </a:ext>
            </a:extLst>
          </p:cNvPr>
          <p:cNvSpPr>
            <a:spLocks xmlns:a="http://schemas.openxmlformats.org/drawingml/2006/main" noGrp="1"/>
          </p:cNvSpPr>
          <p:nvPr/>
        </p:nvSpPr>
        <p:spPr>
          <a:xfrm xmlns:a="http://schemas.openxmlformats.org/drawingml/2006/main">
            <a:off x="9601200" y="28003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202F"/>
                </a:solidFill>
                <a:latin typeface="Aptos"/>
                <a:ea typeface="Aptos"/>
                <a:cs typeface="Aptos"/>
              </a:defRPr>
            </a:pPr>
            <a:r>
              <a:rPr sz="1425" b="1">
                <a:solidFill>
                  <a:srgbClr val="10202F"/>
                </a:solidFill>
                <a:latin typeface="Aptos"/>
                <a:ea typeface="Aptos"/>
                <a:cs typeface="Aptos"/>
              </a:rPr>
              <a:t>STABILITY</a:t>
            </a:r>
          </a:p>
        </p:txBody>
      </p:sp>
      <p:sp>
        <p:nvSpPr>
          <p:cNvPr id="9" name="">
            <a:extLst xmlns:a="http://schemas.openxmlformats.org/drawingml/2006/main">
              <a:ext uri="{FF2B5EF4-FFF2-40B4-BE49-F238E27FC236}">
                <a16:creationId xmlns:a16="http://schemas.microsoft.com/office/drawing/2014/main" id="{9B2FF03B-F1A1-464C-BCD7-BB4511D7AEE8}"/>
              </a:ext>
            </a:extLst>
          </p:cNvPr>
          <p:cNvSpPr>
            <a:spLocks xmlns:a="http://schemas.openxmlformats.org/drawingml/2006/main" noGrp="1"/>
          </p:cNvSpPr>
          <p:nvPr/>
        </p:nvSpPr>
        <p:spPr>
          <a:xfrm xmlns:a="http://schemas.openxmlformats.org/drawingml/2006/main">
            <a:off x="9334500" y="3448050"/>
            <a:ext cx="114300" cy="4191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B17A45-7A85-4B21-8280-02672689BEE1}"/>
              </a:ext>
            </a:extLst>
          </p:cNvPr>
          <p:cNvSpPr>
            <a:spLocks xmlns:a="http://schemas.openxmlformats.org/drawingml/2006/main" noGrp="1"/>
          </p:cNvSpPr>
          <p:nvPr/>
        </p:nvSpPr>
        <p:spPr>
          <a:xfrm xmlns:a="http://schemas.openxmlformats.org/drawingml/2006/main">
            <a:off x="9601200" y="3486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202F"/>
                </a:solidFill>
                <a:latin typeface="Aptos"/>
                <a:ea typeface="Aptos"/>
                <a:cs typeface="Aptos"/>
              </a:defRPr>
            </a:pPr>
            <a:r>
              <a:rPr sz="1425" b="1">
                <a:solidFill>
                  <a:srgbClr val="10202F"/>
                </a:solidFill>
                <a:latin typeface="Aptos"/>
                <a:ea typeface="Aptos"/>
                <a:cs typeface="Aptos"/>
              </a:rPr>
              <a:t>SENSOR HEALTH</a:t>
            </a:r>
          </a:p>
        </p:txBody>
      </p:sp>
      <p:sp>
        <p:nvSpPr>
          <p:cNvPr id="11" name="">
            <a:extLst xmlns:a="http://schemas.openxmlformats.org/drawingml/2006/main">
              <a:ext uri="{FF2B5EF4-FFF2-40B4-BE49-F238E27FC236}">
                <a16:creationId xmlns:a16="http://schemas.microsoft.com/office/drawing/2014/main" id="{34D4B5B5-EEC3-46DF-A219-35ECDEAAE1C3}"/>
              </a:ext>
            </a:extLst>
          </p:cNvPr>
          <p:cNvSpPr>
            <a:spLocks xmlns:a="http://schemas.openxmlformats.org/drawingml/2006/main" noGrp="1"/>
          </p:cNvSpPr>
          <p:nvPr/>
        </p:nvSpPr>
        <p:spPr>
          <a:xfrm xmlns:a="http://schemas.openxmlformats.org/drawingml/2006/main">
            <a:off x="9334500" y="4133850"/>
            <a:ext cx="114300" cy="419100"/>
          </a:xfrm>
          <a:prstGeom xmlns:a="http://schemas.openxmlformats.org/drawingml/2006/main" prst="rect">
            <a:avLst/>
          </a:prstGeom>
          <a:solidFill xmlns:a="http://schemas.openxmlformats.org/drawingml/2006/main">
            <a:srgbClr val="4F8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5A4F67-C1E4-44C2-9BBB-6E6E5F6D0D78}"/>
              </a:ext>
            </a:extLst>
          </p:cNvPr>
          <p:cNvSpPr>
            <a:spLocks xmlns:a="http://schemas.openxmlformats.org/drawingml/2006/main" noGrp="1"/>
          </p:cNvSpPr>
          <p:nvPr/>
        </p:nvSpPr>
        <p:spPr>
          <a:xfrm xmlns:a="http://schemas.openxmlformats.org/drawingml/2006/main">
            <a:off x="9601200" y="41719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202F"/>
                </a:solidFill>
                <a:latin typeface="Aptos"/>
                <a:ea typeface="Aptos"/>
                <a:cs typeface="Aptos"/>
              </a:defRPr>
            </a:pPr>
            <a:r>
              <a:rPr sz="1425" b="1">
                <a:solidFill>
                  <a:srgbClr val="10202F"/>
                </a:solidFill>
                <a:latin typeface="Aptos"/>
                <a:ea typeface="Aptos"/>
                <a:cs typeface="Aptos"/>
              </a:rPr>
              <a:t>LAST SEEN</a:t>
            </a:r>
          </a:p>
        </p:txBody>
      </p:sp>
      <p:sp>
        <p:nvSpPr>
          <p:cNvPr id="13" name="">
            <a:extLst xmlns:a="http://schemas.openxmlformats.org/drawingml/2006/main">
              <a:ext uri="{FF2B5EF4-FFF2-40B4-BE49-F238E27FC236}">
                <a16:creationId xmlns:a16="http://schemas.microsoft.com/office/drawing/2014/main" id="{18D328DF-DD60-49B0-81D2-86E7E142B409}"/>
              </a:ext>
            </a:extLst>
          </p:cNvPr>
          <p:cNvSpPr>
            <a:spLocks xmlns:a="http://schemas.openxmlformats.org/drawingml/2006/main" noGrp="1"/>
          </p:cNvSpPr>
          <p:nvPr/>
        </p:nvSpPr>
        <p:spPr>
          <a:xfrm xmlns:a="http://schemas.openxmlformats.org/drawingml/2006/main">
            <a:off x="9334500" y="4819650"/>
            <a:ext cx="114300" cy="4191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95A313-D7CD-494B-AD3A-EA436C0301CC}"/>
              </a:ext>
            </a:extLst>
          </p:cNvPr>
          <p:cNvSpPr>
            <a:spLocks xmlns:a="http://schemas.openxmlformats.org/drawingml/2006/main" noGrp="1"/>
          </p:cNvSpPr>
          <p:nvPr/>
        </p:nvSpPr>
        <p:spPr>
          <a:xfrm xmlns:a="http://schemas.openxmlformats.org/drawingml/2006/main">
            <a:off x="9601200" y="4857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202F"/>
                </a:solidFill>
                <a:latin typeface="Aptos"/>
                <a:ea typeface="Aptos"/>
                <a:cs typeface="Aptos"/>
              </a:defRPr>
            </a:pPr>
            <a:r>
              <a:rPr sz="1425" b="1">
                <a:solidFill>
                  <a:srgbClr val="10202F"/>
                </a:solidFill>
                <a:latin typeface="Aptos"/>
                <a:ea typeface="Aptos"/>
                <a:cs typeface="Aptos"/>
              </a:rPr>
              <a:t>SIGNAL + SEQUENCE</a:t>
            </a:r>
          </a:p>
        </p:txBody>
      </p:sp>
      <p:sp>
        <p:nvSpPr>
          <p:cNvPr id="15" name="page-number">
            <a:extLst xmlns:a="http://schemas.openxmlformats.org/drawingml/2006/main">
              <a:ext uri="{FF2B5EF4-FFF2-40B4-BE49-F238E27FC236}">
                <a16:creationId xmlns:a16="http://schemas.microsoft.com/office/drawing/2014/main" id="{03B859A4-A3F9-4F59-A864-6BCDD59E32F7}"/>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8697A"/>
                </a:solidFill>
                <a:latin typeface="Aptos"/>
                <a:ea typeface="Aptos"/>
                <a:cs typeface="Aptos"/>
              </a:defRPr>
            </a:pPr>
            <a:r>
              <a:rPr sz="825" b="0">
                <a:solidFill>
                  <a:srgbClr val="58697A"/>
                </a:solidFill>
                <a:latin typeface="Aptos"/>
                <a:ea typeface="Aptos"/>
                <a:cs typeface="Aptos"/>
              </a:rPr>
              <a:t>12</a:t>
            </a:r>
          </a:p>
        </p:txBody>
      </p:sp>
    </p:spTree>
    <p:extLst>
      <p:ext uri="{BB962C8B-B14F-4D97-AF65-F5344CB8AC3E}">
        <p14:creationId xmlns:p14="http://schemas.microsoft.com/office/powerpoint/2010/main" val="1807823675"/>
      </p:ext>
    </p:extLst>
  </p:cSld>
</p:sld>
</file>

<file path=ppt/slides/slide13.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914c41c14ea41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lifecycle-title-band">
            <a:extLst xmlns:a="http://schemas.openxmlformats.org/drawingml/2006/main">
              <a:ext uri="{FF2B5EF4-FFF2-40B4-BE49-F238E27FC236}">
                <a16:creationId xmlns:a16="http://schemas.microsoft.com/office/drawing/2014/main" id="{25363194-575F-4C2B-98D8-942646CF8A4D}"/>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F5A82C-62BB-411E-B9B6-E801989EB8FB}"/>
              </a:ext>
            </a:extLst>
          </p:cNvPr>
          <p:cNvSpPr>
            <a:spLocks xmlns:a="http://schemas.openxmlformats.org/drawingml/2006/main" noGrp="1"/>
          </p:cNvSpPr>
          <p:nvPr/>
        </p:nvSpPr>
        <p:spPr>
          <a:xfrm xmlns:a="http://schemas.openxmlformats.org/drawingml/2006/main">
            <a:off x="514350" y="26670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a:ea typeface="Aptos"/>
                <a:cs typeface="Aptos"/>
              </a:defRPr>
            </a:pPr>
            <a:r>
              <a:rPr sz="3000" b="1">
                <a:solidFill>
                  <a:srgbClr val="FFFFFF"/>
                </a:solidFill>
                <a:latin typeface="Aptos"/>
                <a:ea typeface="Aptos"/>
                <a:cs typeface="Aptos"/>
              </a:rPr>
              <a:t>Use AI across the entire product lifecycle.</a:t>
            </a:r>
          </a:p>
        </p:txBody>
      </p:sp>
      <p:sp>
        <p:nvSpPr>
          <p:cNvPr id="4" name="">
            <a:extLst xmlns:a="http://schemas.openxmlformats.org/drawingml/2006/main">
              <a:ext uri="{FF2B5EF4-FFF2-40B4-BE49-F238E27FC236}">
                <a16:creationId xmlns:a16="http://schemas.microsoft.com/office/drawing/2014/main" id="{7069ED45-0977-4926-8D80-6D57CD7D5C12}"/>
              </a:ext>
            </a:extLst>
          </p:cNvPr>
          <p:cNvSpPr>
            <a:spLocks xmlns:a="http://schemas.openxmlformats.org/drawingml/2006/main" noGrp="1"/>
          </p:cNvSpPr>
          <p:nvPr/>
        </p:nvSpPr>
        <p:spPr>
          <a:xfrm xmlns:a="http://schemas.openxmlformats.org/drawingml/2006/main">
            <a:off x="514350" y="5657850"/>
            <a:ext cx="3143250" cy="819150"/>
          </a:xfrm>
          <a:prstGeom xmlns:a="http://schemas.openxmlformats.org/drawingml/2006/main" prst="roundRect">
            <a:avLst>
              <a:gd name="adj" fmla="val 9302"/>
            </a:avLst>
          </a:prstGeom>
          <a:solidFill xmlns:a="http://schemas.openxmlformats.org/drawingml/2006/main">
            <a:srgbClr val="071A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53C0239-20E9-4317-89ED-FE1ADDF2C122}"/>
              </a:ext>
            </a:extLst>
          </p:cNvPr>
          <p:cNvSpPr>
            <a:spLocks xmlns:a="http://schemas.openxmlformats.org/drawingml/2006/main" noGrp="1"/>
          </p:cNvSpPr>
          <p:nvPr/>
        </p:nvSpPr>
        <p:spPr>
          <a:xfrm xmlns:a="http://schemas.openxmlformats.org/drawingml/2006/main">
            <a:off x="685800" y="576262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59E0B"/>
                </a:solidFill>
                <a:latin typeface="Aptos"/>
                <a:ea typeface="Aptos"/>
                <a:cs typeface="Aptos"/>
              </a:defRPr>
            </a:pPr>
            <a:r>
              <a:rPr sz="1575" b="1">
                <a:solidFill>
                  <a:srgbClr val="F59E0B"/>
                </a:solidFill>
                <a:latin typeface="Aptos"/>
                <a:ea typeface="Aptos"/>
                <a:cs typeface="Aptos"/>
              </a:rPr>
              <a:t>EXPLORE</a:t>
            </a:r>
          </a:p>
        </p:txBody>
      </p:sp>
      <p:sp>
        <p:nvSpPr>
          <p:cNvPr id="6" name="">
            <a:extLst xmlns:a="http://schemas.openxmlformats.org/drawingml/2006/main">
              <a:ext uri="{FF2B5EF4-FFF2-40B4-BE49-F238E27FC236}">
                <a16:creationId xmlns:a16="http://schemas.microsoft.com/office/drawing/2014/main" id="{5907CD47-F7D8-41DF-9374-E0A27A489564}"/>
              </a:ext>
            </a:extLst>
          </p:cNvPr>
          <p:cNvSpPr>
            <a:spLocks xmlns:a="http://schemas.openxmlformats.org/drawingml/2006/main" noGrp="1"/>
          </p:cNvSpPr>
          <p:nvPr/>
        </p:nvSpPr>
        <p:spPr>
          <a:xfrm xmlns:a="http://schemas.openxmlformats.org/drawingml/2006/main">
            <a:off x="685800" y="6096000"/>
            <a:ext cx="280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7F2E8"/>
                </a:solidFill>
                <a:latin typeface="Aptos"/>
                <a:ea typeface="Aptos"/>
                <a:cs typeface="Aptos"/>
              </a:defRPr>
            </a:pPr>
            <a:r>
              <a:rPr sz="1275" b="0">
                <a:solidFill>
                  <a:srgbClr val="F7F2E8"/>
                </a:solidFill>
                <a:latin typeface="Aptos"/>
                <a:ea typeface="Aptos"/>
                <a:cs typeface="Aptos"/>
              </a:rPr>
              <a:t>Learn • ask • experiment</a:t>
            </a:r>
          </a:p>
        </p:txBody>
      </p:sp>
      <p:sp>
        <p:nvSpPr>
          <p:cNvPr id="7" name="">
            <a:extLst xmlns:a="http://schemas.openxmlformats.org/drawingml/2006/main">
              <a:ext uri="{FF2B5EF4-FFF2-40B4-BE49-F238E27FC236}">
                <a16:creationId xmlns:a16="http://schemas.microsoft.com/office/drawing/2014/main" id="{1C25B4FD-BCB0-47B8-B770-68C67A336251}"/>
              </a:ext>
            </a:extLst>
          </p:cNvPr>
          <p:cNvSpPr>
            <a:spLocks xmlns:a="http://schemas.openxmlformats.org/drawingml/2006/main" noGrp="1"/>
          </p:cNvSpPr>
          <p:nvPr/>
        </p:nvSpPr>
        <p:spPr>
          <a:xfrm xmlns:a="http://schemas.openxmlformats.org/drawingml/2006/main">
            <a:off x="4324350" y="5657850"/>
            <a:ext cx="3143250" cy="819150"/>
          </a:xfrm>
          <a:prstGeom xmlns:a="http://schemas.openxmlformats.org/drawingml/2006/main" prst="roundRect">
            <a:avLst>
              <a:gd name="adj" fmla="val 9302"/>
            </a:avLst>
          </a:prstGeom>
          <a:solidFill xmlns:a="http://schemas.openxmlformats.org/drawingml/2006/main">
            <a:srgbClr val="071A2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64408D-18E0-41DC-AE0F-2F1A858C5A7F}"/>
              </a:ext>
            </a:extLst>
          </p:cNvPr>
          <p:cNvSpPr>
            <a:spLocks xmlns:a="http://schemas.openxmlformats.org/drawingml/2006/main" noGrp="1"/>
          </p:cNvSpPr>
          <p:nvPr/>
        </p:nvSpPr>
        <p:spPr>
          <a:xfrm xmlns:a="http://schemas.openxmlformats.org/drawingml/2006/main">
            <a:off x="4495800" y="576262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E43145"/>
                </a:solidFill>
                <a:latin typeface="Aptos"/>
                <a:ea typeface="Aptos"/>
                <a:cs typeface="Aptos"/>
              </a:defRPr>
            </a:pPr>
            <a:r>
              <a:rPr sz="1575" b="1">
                <a:solidFill>
                  <a:srgbClr val="E43145"/>
                </a:solidFill>
                <a:latin typeface="Aptos"/>
                <a:ea typeface="Aptos"/>
                <a:cs typeface="Aptos"/>
              </a:rPr>
              <a:t>BUILD</a:t>
            </a:r>
          </a:p>
        </p:txBody>
      </p:sp>
      <p:sp>
        <p:nvSpPr>
          <p:cNvPr id="9" name="">
            <a:extLst xmlns:a="http://schemas.openxmlformats.org/drawingml/2006/main">
              <a:ext uri="{FF2B5EF4-FFF2-40B4-BE49-F238E27FC236}">
                <a16:creationId xmlns:a16="http://schemas.microsoft.com/office/drawing/2014/main" id="{868E0E13-E013-42A6-81B5-60A20F5049DA}"/>
              </a:ext>
            </a:extLst>
          </p:cNvPr>
          <p:cNvSpPr>
            <a:spLocks xmlns:a="http://schemas.openxmlformats.org/drawingml/2006/main" noGrp="1"/>
          </p:cNvSpPr>
          <p:nvPr/>
        </p:nvSpPr>
        <p:spPr>
          <a:xfrm xmlns:a="http://schemas.openxmlformats.org/drawingml/2006/main">
            <a:off x="4495800" y="6096000"/>
            <a:ext cx="280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7F2E8"/>
                </a:solidFill>
                <a:latin typeface="Aptos"/>
                <a:ea typeface="Aptos"/>
                <a:cs typeface="Aptos"/>
              </a:defRPr>
            </a:pPr>
            <a:r>
              <a:rPr sz="1275" b="0">
                <a:solidFill>
                  <a:srgbClr val="F7F2E8"/>
                </a:solidFill>
                <a:latin typeface="Aptos"/>
                <a:ea typeface="Aptos"/>
                <a:cs typeface="Aptos"/>
              </a:rPr>
              <a:t>Create • test • document</a:t>
            </a:r>
          </a:p>
        </p:txBody>
      </p:sp>
      <p:sp>
        <p:nvSpPr>
          <p:cNvPr id="10" name="">
            <a:extLst xmlns:a="http://schemas.openxmlformats.org/drawingml/2006/main">
              <a:ext uri="{FF2B5EF4-FFF2-40B4-BE49-F238E27FC236}">
                <a16:creationId xmlns:a16="http://schemas.microsoft.com/office/drawing/2014/main" id="{02599368-4627-4F2B-BDCF-3910DCA14862}"/>
              </a:ext>
            </a:extLst>
          </p:cNvPr>
          <p:cNvSpPr>
            <a:spLocks xmlns:a="http://schemas.openxmlformats.org/drawingml/2006/main" noGrp="1"/>
          </p:cNvSpPr>
          <p:nvPr/>
        </p:nvSpPr>
        <p:spPr>
          <a:xfrm xmlns:a="http://schemas.openxmlformats.org/drawingml/2006/main">
            <a:off x="8115300" y="5657850"/>
            <a:ext cx="3143250" cy="819150"/>
          </a:xfrm>
          <a:prstGeom xmlns:a="http://schemas.openxmlformats.org/drawingml/2006/main" prst="roundRect">
            <a:avLst>
              <a:gd name="adj" fmla="val 9302"/>
            </a:avLst>
          </a:prstGeom>
          <a:solidFill xmlns:a="http://schemas.openxmlformats.org/drawingml/2006/main">
            <a:srgbClr val="071A2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C10D1F-45A2-4DE4-ABAE-B27140120AFA}"/>
              </a:ext>
            </a:extLst>
          </p:cNvPr>
          <p:cNvSpPr>
            <a:spLocks xmlns:a="http://schemas.openxmlformats.org/drawingml/2006/main" noGrp="1"/>
          </p:cNvSpPr>
          <p:nvPr/>
        </p:nvSpPr>
        <p:spPr>
          <a:xfrm xmlns:a="http://schemas.openxmlformats.org/drawingml/2006/main">
            <a:off x="8286750" y="576262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2D583"/>
                </a:solidFill>
                <a:latin typeface="Aptos"/>
                <a:ea typeface="Aptos"/>
                <a:cs typeface="Aptos"/>
              </a:defRPr>
            </a:pPr>
            <a:r>
              <a:rPr sz="1575" b="1">
                <a:solidFill>
                  <a:srgbClr val="32D583"/>
                </a:solidFill>
                <a:latin typeface="Aptos"/>
                <a:ea typeface="Aptos"/>
                <a:cs typeface="Aptos"/>
              </a:rPr>
              <a:t>OPERATE</a:t>
            </a:r>
          </a:p>
        </p:txBody>
      </p:sp>
      <p:sp>
        <p:nvSpPr>
          <p:cNvPr id="12" name="">
            <a:extLst xmlns:a="http://schemas.openxmlformats.org/drawingml/2006/main">
              <a:ext uri="{FF2B5EF4-FFF2-40B4-BE49-F238E27FC236}">
                <a16:creationId xmlns:a16="http://schemas.microsoft.com/office/drawing/2014/main" id="{C38F1B03-333C-4481-8CCA-67577AF160EE}"/>
              </a:ext>
            </a:extLst>
          </p:cNvPr>
          <p:cNvSpPr>
            <a:spLocks xmlns:a="http://schemas.openxmlformats.org/drawingml/2006/main" noGrp="1"/>
          </p:cNvSpPr>
          <p:nvPr/>
        </p:nvSpPr>
        <p:spPr>
          <a:xfrm xmlns:a="http://schemas.openxmlformats.org/drawingml/2006/main">
            <a:off x="8286750" y="6096000"/>
            <a:ext cx="280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F7F2E8"/>
                </a:solidFill>
                <a:latin typeface="Aptos"/>
                <a:ea typeface="Aptos"/>
                <a:cs typeface="Aptos"/>
              </a:defRPr>
            </a:pPr>
            <a:r>
              <a:rPr sz="1275" b="0">
                <a:solidFill>
                  <a:srgbClr val="F7F2E8"/>
                </a:solidFill>
                <a:latin typeface="Aptos"/>
                <a:ea typeface="Aptos"/>
                <a:cs typeface="Aptos"/>
              </a:rPr>
              <a:t>Monitor • diagnose • sustain</a:t>
            </a:r>
          </a:p>
        </p:txBody>
      </p:sp>
      <p:sp>
        <p:nvSpPr>
          <p:cNvPr id="13" name="page-number">
            <a:extLst xmlns:a="http://schemas.openxmlformats.org/drawingml/2006/main">
              <a:ext uri="{FF2B5EF4-FFF2-40B4-BE49-F238E27FC236}">
                <a16:creationId xmlns:a16="http://schemas.microsoft.com/office/drawing/2014/main" id="{F99293C9-8E85-4C19-B294-B8C9758A8324}"/>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E8EEF3"/>
                </a:solidFill>
                <a:latin typeface="Aptos"/>
                <a:ea typeface="Aptos"/>
                <a:cs typeface="Aptos"/>
              </a:defRPr>
            </a:pPr>
            <a:r>
              <a:rPr sz="825" b="0">
                <a:solidFill>
                  <a:srgbClr val="E8EEF3"/>
                </a:solidFill>
                <a:latin typeface="Aptos"/>
                <a:ea typeface="Aptos"/>
                <a:cs typeface="Aptos"/>
              </a:rPr>
              <a:t>13</a:t>
            </a:r>
          </a:p>
        </p:txBody>
      </p:sp>
    </p:spTree>
    <p:extLst>
      <p:ext uri="{BB962C8B-B14F-4D97-AF65-F5344CB8AC3E}">
        <p14:creationId xmlns:p14="http://schemas.microsoft.com/office/powerpoint/2010/main" val="1352543499"/>
      </p:ext>
    </p:extLst>
  </p:cSld>
</p:sld>
</file>

<file path=ppt/slides/slide1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1" name="eyebrow-mark">
            <a:extLst xmlns:a="http://schemas.openxmlformats.org/drawingml/2006/main">
              <a:ext uri="{FF2B5EF4-FFF2-40B4-BE49-F238E27FC236}">
                <a16:creationId xmlns:a16="http://schemas.microsoft.com/office/drawing/2014/main" id="{F5C88187-0423-40EB-ADA4-1726A92B15E8}"/>
              </a:ext>
            </a:extLst>
          </p:cNvPr>
          <p:cNvSpPr>
            <a:spLocks xmlns:a="http://schemas.openxmlformats.org/drawingml/2006/main" noGrp="1"/>
          </p:cNvSpPr>
          <p:nvPr/>
        </p:nvSpPr>
        <p:spPr>
          <a:xfrm xmlns:a="http://schemas.openxmlformats.org/drawingml/2006/main">
            <a:off x="514350" y="419100"/>
            <a:ext cx="66675" cy="190500"/>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A0E03341-9C39-458E-BD07-3B74C6E5A301}"/>
              </a:ext>
            </a:extLst>
          </p:cNvPr>
          <p:cNvSpPr>
            <a:spLocks xmlns:a="http://schemas.openxmlformats.org/drawingml/2006/main" noGrp="1"/>
          </p:cNvSpPr>
          <p:nvPr/>
        </p:nvSpPr>
        <p:spPr>
          <a:xfrm xmlns:a="http://schemas.openxmlformats.org/drawingml/2006/main">
            <a:off x="685800" y="400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E43145"/>
                </a:solidFill>
                <a:latin typeface="Aptos"/>
                <a:ea typeface="Aptos"/>
                <a:cs typeface="Aptos"/>
              </a:defRPr>
            </a:pPr>
            <a:r>
              <a:rPr sz="1125" b="1">
                <a:solidFill>
                  <a:srgbClr val="E43145"/>
                </a:solidFill>
                <a:latin typeface="Aptos"/>
                <a:ea typeface="Aptos"/>
                <a:cs typeface="Aptos"/>
              </a:rPr>
              <a:t>FOR OUR TEAM</a:t>
            </a:r>
          </a:p>
        </p:txBody>
      </p:sp>
      <p:sp>
        <p:nvSpPr>
          <p:cNvPr id="3" name="slide-title">
            <a:extLst xmlns:a="http://schemas.openxmlformats.org/drawingml/2006/main">
              <a:ext uri="{FF2B5EF4-FFF2-40B4-BE49-F238E27FC236}">
                <a16:creationId xmlns:a16="http://schemas.microsoft.com/office/drawing/2014/main" id="{F015E31F-8D83-4235-9B87-1352F6AD30B7}"/>
              </a:ext>
            </a:extLst>
          </p:cNvPr>
          <p:cNvSpPr>
            <a:spLocks xmlns:a="http://schemas.openxmlformats.org/drawingml/2006/main" noGrp="1"/>
          </p:cNvSpPr>
          <p:nvPr/>
        </p:nvSpPr>
        <p:spPr>
          <a:xfrm xmlns:a="http://schemas.openxmlformats.org/drawingml/2006/main">
            <a:off x="514350" y="7239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0202F"/>
                </a:solidFill>
                <a:latin typeface="Aptos"/>
                <a:ea typeface="Aptos"/>
                <a:cs typeface="Aptos"/>
              </a:defRPr>
            </a:pPr>
            <a:r>
              <a:rPr sz="2925" b="1">
                <a:solidFill>
                  <a:srgbClr val="10202F"/>
                </a:solidFill>
                <a:latin typeface="Aptos"/>
                <a:ea typeface="Aptos"/>
                <a:cs typeface="Aptos"/>
              </a:rPr>
              <a:t>Manage the product—not every technical task.</a:t>
            </a:r>
          </a:p>
        </p:txBody>
      </p:sp>
      <p:sp>
        <p:nvSpPr>
          <p:cNvPr id="4" name="">
            <a:extLst xmlns:a="http://schemas.openxmlformats.org/drawingml/2006/main">
              <a:ext uri="{FF2B5EF4-FFF2-40B4-BE49-F238E27FC236}">
                <a16:creationId xmlns:a16="http://schemas.microsoft.com/office/drawing/2014/main" id="{42D96EAC-7661-4B06-AF06-A0BD51D4BE5E}"/>
              </a:ext>
            </a:extLst>
          </p:cNvPr>
          <p:cNvSpPr>
            <a:spLocks xmlns:a="http://schemas.openxmlformats.org/drawingml/2006/main" noGrp="1"/>
          </p:cNvSpPr>
          <p:nvPr/>
        </p:nvSpPr>
        <p:spPr>
          <a:xfrm xmlns:a="http://schemas.openxmlformats.org/drawingml/2006/main">
            <a:off x="552450" y="16764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a:solidFill>
                  <a:srgbClr val="E43145"/>
                </a:solidFill>
                <a:latin typeface="Aptos"/>
                <a:ea typeface="Aptos"/>
                <a:cs typeface="Aptos"/>
              </a:defRPr>
            </a:pPr>
            <a:r>
              <a:rPr sz="3300" b="1">
                <a:solidFill>
                  <a:srgbClr val="E4314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3596D8D5-B918-4B64-B16B-42E13A1ECBD4}"/>
              </a:ext>
            </a:extLst>
          </p:cNvPr>
          <p:cNvSpPr>
            <a:spLocks xmlns:a="http://schemas.openxmlformats.org/drawingml/2006/main" noGrp="1"/>
          </p:cNvSpPr>
          <p:nvPr/>
        </p:nvSpPr>
        <p:spPr>
          <a:xfrm xmlns:a="http://schemas.openxmlformats.org/drawingml/2006/main">
            <a:off x="1390650" y="1933575"/>
            <a:ext cx="4000500" cy="47625"/>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AD144DE-2DE1-4275-82D7-E9C0FFA4B73C}"/>
              </a:ext>
            </a:extLst>
          </p:cNvPr>
          <p:cNvSpPr>
            <a:spLocks xmlns:a="http://schemas.openxmlformats.org/drawingml/2006/main" noGrp="1"/>
          </p:cNvSpPr>
          <p:nvPr/>
        </p:nvSpPr>
        <p:spPr>
          <a:xfrm xmlns:a="http://schemas.openxmlformats.org/drawingml/2006/main">
            <a:off x="5905500" y="171450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202F"/>
                </a:solidFill>
                <a:latin typeface="Aptos"/>
                <a:ea typeface="Aptos"/>
                <a:cs typeface="Aptos"/>
              </a:defRPr>
            </a:pPr>
            <a:r>
              <a:rPr sz="2175" b="1">
                <a:solidFill>
                  <a:srgbClr val="10202F"/>
                </a:solidFill>
                <a:latin typeface="Aptos"/>
                <a:ea typeface="Aptos"/>
                <a:cs typeface="Aptos"/>
              </a:rPr>
              <a:t>Bring a problem</a:t>
            </a:r>
          </a:p>
        </p:txBody>
      </p:sp>
      <p:sp>
        <p:nvSpPr>
          <p:cNvPr id="7" name="">
            <a:extLst xmlns:a="http://schemas.openxmlformats.org/drawingml/2006/main">
              <a:ext uri="{FF2B5EF4-FFF2-40B4-BE49-F238E27FC236}">
                <a16:creationId xmlns:a16="http://schemas.microsoft.com/office/drawing/2014/main" id="{F5DBE4DC-3C91-4F60-B8F7-F35240519D36}"/>
              </a:ext>
            </a:extLst>
          </p:cNvPr>
          <p:cNvSpPr>
            <a:spLocks xmlns:a="http://schemas.openxmlformats.org/drawingml/2006/main" noGrp="1"/>
          </p:cNvSpPr>
          <p:nvPr/>
        </p:nvSpPr>
        <p:spPr>
          <a:xfrm xmlns:a="http://schemas.openxmlformats.org/drawingml/2006/main">
            <a:off x="552450" y="25146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a:solidFill>
                  <a:srgbClr val="F59E0B"/>
                </a:solidFill>
                <a:latin typeface="Aptos"/>
                <a:ea typeface="Aptos"/>
                <a:cs typeface="Aptos"/>
              </a:defRPr>
            </a:pPr>
            <a:r>
              <a:rPr sz="3300" b="1">
                <a:solidFill>
                  <a:srgbClr val="F59E0B"/>
                </a:solidFill>
                <a:latin typeface="Aptos"/>
                <a:ea typeface="Aptos"/>
                <a:cs typeface="Aptos"/>
              </a:rPr>
              <a:t>2</a:t>
            </a:r>
          </a:p>
        </p:txBody>
      </p:sp>
      <p:sp>
        <p:nvSpPr>
          <p:cNvPr id="8" name="">
            <a:extLst xmlns:a="http://schemas.openxmlformats.org/drawingml/2006/main">
              <a:ext uri="{FF2B5EF4-FFF2-40B4-BE49-F238E27FC236}">
                <a16:creationId xmlns:a16="http://schemas.microsoft.com/office/drawing/2014/main" id="{F3CD5C45-FC17-4A12-94E5-4ED23EE059FC}"/>
              </a:ext>
            </a:extLst>
          </p:cNvPr>
          <p:cNvSpPr>
            <a:spLocks xmlns:a="http://schemas.openxmlformats.org/drawingml/2006/main" noGrp="1"/>
          </p:cNvSpPr>
          <p:nvPr/>
        </p:nvSpPr>
        <p:spPr>
          <a:xfrm xmlns:a="http://schemas.openxmlformats.org/drawingml/2006/main">
            <a:off x="1390650" y="2771775"/>
            <a:ext cx="40005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BE724F-FD91-4254-95A2-02C0063E7A26}"/>
              </a:ext>
            </a:extLst>
          </p:cNvPr>
          <p:cNvSpPr>
            <a:spLocks xmlns:a="http://schemas.openxmlformats.org/drawingml/2006/main" noGrp="1"/>
          </p:cNvSpPr>
          <p:nvPr/>
        </p:nvSpPr>
        <p:spPr>
          <a:xfrm xmlns:a="http://schemas.openxmlformats.org/drawingml/2006/main">
            <a:off x="5905500" y="255270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202F"/>
                </a:solidFill>
                <a:latin typeface="Aptos"/>
                <a:ea typeface="Aptos"/>
                <a:cs typeface="Aptos"/>
              </a:defRPr>
            </a:pPr>
            <a:r>
              <a:rPr sz="2175" b="1">
                <a:solidFill>
                  <a:srgbClr val="10202F"/>
                </a:solidFill>
                <a:latin typeface="Aptos"/>
                <a:ea typeface="Aptos"/>
                <a:cs typeface="Aptos"/>
              </a:rPr>
              <a:t>Start before you know how</a:t>
            </a:r>
          </a:p>
        </p:txBody>
      </p:sp>
      <p:sp>
        <p:nvSpPr>
          <p:cNvPr id="10" name="">
            <a:extLst xmlns:a="http://schemas.openxmlformats.org/drawingml/2006/main">
              <a:ext uri="{FF2B5EF4-FFF2-40B4-BE49-F238E27FC236}">
                <a16:creationId xmlns:a16="http://schemas.microsoft.com/office/drawing/2014/main" id="{A78671F9-BCD6-4A62-888D-CE4FBF39DC61}"/>
              </a:ext>
            </a:extLst>
          </p:cNvPr>
          <p:cNvSpPr>
            <a:spLocks xmlns:a="http://schemas.openxmlformats.org/drawingml/2006/main" noGrp="1"/>
          </p:cNvSpPr>
          <p:nvPr/>
        </p:nvSpPr>
        <p:spPr>
          <a:xfrm xmlns:a="http://schemas.openxmlformats.org/drawingml/2006/main">
            <a:off x="552450" y="33528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a:solidFill>
                  <a:srgbClr val="4F8BFF"/>
                </a:solidFill>
                <a:latin typeface="Aptos"/>
                <a:ea typeface="Aptos"/>
                <a:cs typeface="Aptos"/>
              </a:defRPr>
            </a:pPr>
            <a:r>
              <a:rPr sz="3300" b="1">
                <a:solidFill>
                  <a:srgbClr val="4F8BFF"/>
                </a:solidFill>
                <a:latin typeface="Aptos"/>
                <a:ea typeface="Aptos"/>
                <a:cs typeface="Aptos"/>
              </a:rPr>
              <a:t>3</a:t>
            </a:r>
          </a:p>
        </p:txBody>
      </p:sp>
      <p:sp>
        <p:nvSpPr>
          <p:cNvPr id="11" name="">
            <a:extLst xmlns:a="http://schemas.openxmlformats.org/drawingml/2006/main">
              <a:ext uri="{FF2B5EF4-FFF2-40B4-BE49-F238E27FC236}">
                <a16:creationId xmlns:a16="http://schemas.microsoft.com/office/drawing/2014/main" id="{99DAE073-3785-4054-AA62-0EB0FC49081E}"/>
              </a:ext>
            </a:extLst>
          </p:cNvPr>
          <p:cNvSpPr>
            <a:spLocks xmlns:a="http://schemas.openxmlformats.org/drawingml/2006/main" noGrp="1"/>
          </p:cNvSpPr>
          <p:nvPr/>
        </p:nvSpPr>
        <p:spPr>
          <a:xfrm xmlns:a="http://schemas.openxmlformats.org/drawingml/2006/main">
            <a:off x="1390650" y="3609975"/>
            <a:ext cx="4000500" cy="47625"/>
          </a:xfrm>
          <a:prstGeom xmlns:a="http://schemas.openxmlformats.org/drawingml/2006/main" prst="rect">
            <a:avLst/>
          </a:prstGeom>
          <a:solidFill xmlns:a="http://schemas.openxmlformats.org/drawingml/2006/main">
            <a:srgbClr val="4F8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56F980F-7825-4C79-ACF2-3A91A2790E87}"/>
              </a:ext>
            </a:extLst>
          </p:cNvPr>
          <p:cNvSpPr>
            <a:spLocks xmlns:a="http://schemas.openxmlformats.org/drawingml/2006/main" noGrp="1"/>
          </p:cNvSpPr>
          <p:nvPr/>
        </p:nvSpPr>
        <p:spPr>
          <a:xfrm xmlns:a="http://schemas.openxmlformats.org/drawingml/2006/main">
            <a:off x="5905500" y="339090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202F"/>
                </a:solidFill>
                <a:latin typeface="Aptos"/>
                <a:ea typeface="Aptos"/>
                <a:cs typeface="Aptos"/>
              </a:defRPr>
            </a:pPr>
            <a:r>
              <a:rPr sz="2175" b="1">
                <a:solidFill>
                  <a:srgbClr val="10202F"/>
                </a:solidFill>
                <a:latin typeface="Aptos"/>
                <a:ea typeface="Aptos"/>
                <a:cs typeface="Aptos"/>
              </a:rPr>
              <a:t>Experiment + learn</a:t>
            </a:r>
          </a:p>
        </p:txBody>
      </p:sp>
      <p:sp>
        <p:nvSpPr>
          <p:cNvPr id="13" name="">
            <a:extLst xmlns:a="http://schemas.openxmlformats.org/drawingml/2006/main">
              <a:ext uri="{FF2B5EF4-FFF2-40B4-BE49-F238E27FC236}">
                <a16:creationId xmlns:a16="http://schemas.microsoft.com/office/drawing/2014/main" id="{7878FCA0-CA3F-411B-8128-4561E9B0E67B}"/>
              </a:ext>
            </a:extLst>
          </p:cNvPr>
          <p:cNvSpPr>
            <a:spLocks xmlns:a="http://schemas.openxmlformats.org/drawingml/2006/main" noGrp="1"/>
          </p:cNvSpPr>
          <p:nvPr/>
        </p:nvSpPr>
        <p:spPr>
          <a:xfrm xmlns:a="http://schemas.openxmlformats.org/drawingml/2006/main">
            <a:off x="552450" y="41910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a:solidFill>
                  <a:srgbClr val="32D583"/>
                </a:solidFill>
                <a:latin typeface="Aptos"/>
                <a:ea typeface="Aptos"/>
                <a:cs typeface="Aptos"/>
              </a:defRPr>
            </a:pPr>
            <a:r>
              <a:rPr sz="3300" b="1">
                <a:solidFill>
                  <a:srgbClr val="32D583"/>
                </a:solidFill>
                <a:latin typeface="Aptos"/>
                <a:ea typeface="Aptos"/>
                <a:cs typeface="Aptos"/>
              </a:rPr>
              <a:t>4</a:t>
            </a:r>
          </a:p>
        </p:txBody>
      </p:sp>
      <p:sp>
        <p:nvSpPr>
          <p:cNvPr id="14" name="">
            <a:extLst xmlns:a="http://schemas.openxmlformats.org/drawingml/2006/main">
              <a:ext uri="{FF2B5EF4-FFF2-40B4-BE49-F238E27FC236}">
                <a16:creationId xmlns:a16="http://schemas.microsoft.com/office/drawing/2014/main" id="{3CAFE0F5-3C99-4F02-B944-CA4105FEE801}"/>
              </a:ext>
            </a:extLst>
          </p:cNvPr>
          <p:cNvSpPr>
            <a:spLocks xmlns:a="http://schemas.openxmlformats.org/drawingml/2006/main" noGrp="1"/>
          </p:cNvSpPr>
          <p:nvPr/>
        </p:nvSpPr>
        <p:spPr>
          <a:xfrm xmlns:a="http://schemas.openxmlformats.org/drawingml/2006/main">
            <a:off x="1390650" y="4448175"/>
            <a:ext cx="4000500" cy="47625"/>
          </a:xfrm>
          <a:prstGeom xmlns:a="http://schemas.openxmlformats.org/drawingml/2006/main" prst="rect">
            <a:avLst/>
          </a:prstGeom>
          <a:solidFill xmlns:a="http://schemas.openxmlformats.org/drawingml/2006/main">
            <a:srgbClr val="32D58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58D5CC-CF01-4867-B311-9FBE38ECE970}"/>
              </a:ext>
            </a:extLst>
          </p:cNvPr>
          <p:cNvSpPr>
            <a:spLocks xmlns:a="http://schemas.openxmlformats.org/drawingml/2006/main" noGrp="1"/>
          </p:cNvSpPr>
          <p:nvPr/>
        </p:nvSpPr>
        <p:spPr>
          <a:xfrm xmlns:a="http://schemas.openxmlformats.org/drawingml/2006/main">
            <a:off x="5905500" y="422910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202F"/>
                </a:solidFill>
                <a:latin typeface="Aptos"/>
                <a:ea typeface="Aptos"/>
                <a:cs typeface="Aptos"/>
              </a:defRPr>
            </a:pPr>
            <a:r>
              <a:rPr sz="2175" b="1">
                <a:solidFill>
                  <a:srgbClr val="10202F"/>
                </a:solidFill>
                <a:latin typeface="Aptos"/>
                <a:ea typeface="Aptos"/>
                <a:cs typeface="Aptos"/>
              </a:rPr>
              <a:t>Ask AI for ideas</a:t>
            </a:r>
          </a:p>
        </p:txBody>
      </p:sp>
      <p:sp>
        <p:nvSpPr>
          <p:cNvPr id="16" name="">
            <a:extLst xmlns:a="http://schemas.openxmlformats.org/drawingml/2006/main">
              <a:ext uri="{FF2B5EF4-FFF2-40B4-BE49-F238E27FC236}">
                <a16:creationId xmlns:a16="http://schemas.microsoft.com/office/drawing/2014/main" id="{88884E0B-6C62-45E2-B328-D164FCF6E7CB}"/>
              </a:ext>
            </a:extLst>
          </p:cNvPr>
          <p:cNvSpPr>
            <a:spLocks xmlns:a="http://schemas.openxmlformats.org/drawingml/2006/main" noGrp="1"/>
          </p:cNvSpPr>
          <p:nvPr/>
        </p:nvSpPr>
        <p:spPr>
          <a:xfrm xmlns:a="http://schemas.openxmlformats.org/drawingml/2006/main">
            <a:off x="552450" y="50292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00" b="1">
                <a:solidFill>
                  <a:srgbClr val="071A2B"/>
                </a:solidFill>
                <a:latin typeface="Aptos"/>
                <a:ea typeface="Aptos"/>
                <a:cs typeface="Aptos"/>
              </a:defRPr>
            </a:pPr>
            <a:r>
              <a:rPr sz="3300" b="1">
                <a:solidFill>
                  <a:srgbClr val="071A2B"/>
                </a:solidFill>
                <a:latin typeface="Aptos"/>
                <a:ea typeface="Aptos"/>
                <a:cs typeface="Aptos"/>
              </a:rPr>
              <a:t>5</a:t>
            </a:r>
          </a:p>
        </p:txBody>
      </p:sp>
      <p:sp>
        <p:nvSpPr>
          <p:cNvPr id="17" name="">
            <a:extLst xmlns:a="http://schemas.openxmlformats.org/drawingml/2006/main">
              <a:ext uri="{FF2B5EF4-FFF2-40B4-BE49-F238E27FC236}">
                <a16:creationId xmlns:a16="http://schemas.microsoft.com/office/drawing/2014/main" id="{AEA42173-D0AA-4BEC-8E0B-0B1D4AEFEC42}"/>
              </a:ext>
            </a:extLst>
          </p:cNvPr>
          <p:cNvSpPr>
            <a:spLocks xmlns:a="http://schemas.openxmlformats.org/drawingml/2006/main" noGrp="1"/>
          </p:cNvSpPr>
          <p:nvPr/>
        </p:nvSpPr>
        <p:spPr>
          <a:xfrm xmlns:a="http://schemas.openxmlformats.org/drawingml/2006/main">
            <a:off x="1390650" y="5286375"/>
            <a:ext cx="4000500" cy="47625"/>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4629D6-D496-4F21-9E6B-90BC7B884434}"/>
              </a:ext>
            </a:extLst>
          </p:cNvPr>
          <p:cNvSpPr>
            <a:spLocks xmlns:a="http://schemas.openxmlformats.org/drawingml/2006/main" noGrp="1"/>
          </p:cNvSpPr>
          <p:nvPr/>
        </p:nvSpPr>
        <p:spPr>
          <a:xfrm xmlns:a="http://schemas.openxmlformats.org/drawingml/2006/main">
            <a:off x="5905500" y="506730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202F"/>
                </a:solidFill>
                <a:latin typeface="Aptos"/>
                <a:ea typeface="Aptos"/>
                <a:cs typeface="Aptos"/>
              </a:defRPr>
            </a:pPr>
            <a:r>
              <a:rPr sz="2175" b="1">
                <a:solidFill>
                  <a:srgbClr val="10202F"/>
                </a:solidFill>
                <a:latin typeface="Aptos"/>
                <a:ea typeface="Aptos"/>
                <a:cs typeface="Aptos"/>
              </a:rPr>
              <a:t>Own the outcome</a:t>
            </a:r>
          </a:p>
        </p:txBody>
      </p:sp>
      <p:sp>
        <p:nvSpPr>
          <p:cNvPr id="19" name="">
            <a:extLst xmlns:a="http://schemas.openxmlformats.org/drawingml/2006/main">
              <a:ext uri="{FF2B5EF4-FFF2-40B4-BE49-F238E27FC236}">
                <a16:creationId xmlns:a16="http://schemas.microsoft.com/office/drawing/2014/main" id="{4FCB63E7-7825-4C0E-A67A-94BFDEDB9DCC}"/>
              </a:ext>
            </a:extLst>
          </p:cNvPr>
          <p:cNvSpPr>
            <a:spLocks xmlns:a="http://schemas.openxmlformats.org/drawingml/2006/main" noGrp="1"/>
          </p:cNvSpPr>
          <p:nvPr/>
        </p:nvSpPr>
        <p:spPr>
          <a:xfrm xmlns:a="http://schemas.openxmlformats.org/drawingml/2006/main">
            <a:off x="533400" y="61150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8697A"/>
                </a:solidFill>
                <a:latin typeface="Aptos"/>
                <a:ea typeface="Aptos"/>
                <a:cs typeface="Aptos"/>
              </a:defRPr>
            </a:pPr>
            <a:r>
              <a:rPr sz="1650" b="0">
                <a:solidFill>
                  <a:srgbClr val="58697A"/>
                </a:solidFill>
                <a:latin typeface="Aptos"/>
                <a:ea typeface="Aptos"/>
                <a:cs typeface="Aptos"/>
              </a:rPr>
              <a:t>Define success. Provide context. Make decisions. Verify reality.</a:t>
            </a:r>
          </a:p>
        </p:txBody>
      </p:sp>
      <p:sp>
        <p:nvSpPr>
          <p:cNvPr id="20" name="page-number">
            <a:extLst xmlns:a="http://schemas.openxmlformats.org/drawingml/2006/main">
              <a:ext uri="{FF2B5EF4-FFF2-40B4-BE49-F238E27FC236}">
                <a16:creationId xmlns:a16="http://schemas.microsoft.com/office/drawing/2014/main" id="{BF645700-D968-485B-9F86-FEB410D45A2E}"/>
              </a:ext>
            </a:extLst>
          </p:cNvPr>
          <p:cNvSpPr>
            <a:spLocks xmlns:a="http://schemas.openxmlformats.org/drawingml/2006/main" noGrp="1"/>
          </p:cNvSpPr>
          <p:nvPr/>
        </p:nvSpPr>
        <p:spPr>
          <a:xfrm xmlns:a="http://schemas.openxmlformats.org/drawingml/2006/main">
            <a:off x="1143000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8697A"/>
                </a:solidFill>
                <a:latin typeface="Aptos"/>
                <a:ea typeface="Aptos"/>
                <a:cs typeface="Aptos"/>
              </a:defRPr>
            </a:pPr>
            <a:r>
              <a:rPr sz="825" b="0">
                <a:solidFill>
                  <a:srgbClr val="58697A"/>
                </a:solidFill>
                <a:latin typeface="Aptos"/>
                <a:ea typeface="Aptos"/>
                <a:cs typeface="Aptos"/>
              </a:rPr>
              <a:t>14</a:t>
            </a:r>
          </a:p>
        </p:txBody>
      </p:sp>
    </p:spTree>
    <p:extLst>
      <p:ext uri="{BB962C8B-B14F-4D97-AF65-F5344CB8AC3E}">
        <p14:creationId xmlns:p14="http://schemas.microsoft.com/office/powerpoint/2010/main" val="1586314698"/>
      </p:ext>
    </p:extLst>
  </p:cSld>
</p:sld>
</file>

<file path=ppt/slides/slide15.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500e01a204b42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text-field">
            <a:extLst xmlns:a="http://schemas.openxmlformats.org/drawingml/2006/main">
              <a:ext uri="{FF2B5EF4-FFF2-40B4-BE49-F238E27FC236}">
                <a16:creationId xmlns:a16="http://schemas.microsoft.com/office/drawing/2014/main" id="{74A29AE4-6470-4162-8ABF-D14CE38A5BBF}"/>
              </a:ext>
            </a:extLst>
          </p:cNvPr>
          <p:cNvSpPr>
            <a:spLocks xmlns:a="http://schemas.openxmlformats.org/drawingml/2006/main" noGrp="1"/>
          </p:cNvSpPr>
          <p:nvPr/>
        </p:nvSpPr>
        <p:spPr>
          <a:xfrm xmlns:a="http://schemas.openxmlformats.org/drawingml/2006/main">
            <a:off x="0" y="0"/>
            <a:ext cx="5334000" cy="6858000"/>
          </a:xfrm>
          <a:prstGeom xmlns:a="http://schemas.openxmlformats.org/drawingml/2006/main" prst="rect">
            <a:avLst/>
          </a:prstGeom>
          <a:solidFill xmlns:a="http://schemas.openxmlformats.org/drawingml/2006/main">
            <a:srgbClr val="071A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C401B0-8A5B-4B38-9224-D360DCBEC92E}"/>
              </a:ext>
            </a:extLst>
          </p:cNvPr>
          <p:cNvSpPr>
            <a:spLocks xmlns:a="http://schemas.openxmlformats.org/drawingml/2006/main" noGrp="1"/>
          </p:cNvSpPr>
          <p:nvPr/>
        </p:nvSpPr>
        <p:spPr>
          <a:xfrm xmlns:a="http://schemas.openxmlformats.org/drawingml/2006/main">
            <a:off x="533400" y="4953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2D583"/>
                </a:solidFill>
                <a:latin typeface="Aptos"/>
                <a:ea typeface="Aptos"/>
                <a:cs typeface="Aptos"/>
              </a:defRPr>
            </a:pPr>
            <a:r>
              <a:rPr sz="1275" b="1">
                <a:solidFill>
                  <a:srgbClr val="32D583"/>
                </a:solidFill>
                <a:latin typeface="Aptos"/>
                <a:ea typeface="Aptos"/>
                <a:cs typeface="Aptos"/>
              </a:rPr>
              <a:t>THE INVITATION</a:t>
            </a:r>
          </a:p>
        </p:txBody>
      </p:sp>
      <p:sp>
        <p:nvSpPr>
          <p:cNvPr id="4" name="">
            <a:extLst xmlns:a="http://schemas.openxmlformats.org/drawingml/2006/main">
              <a:ext uri="{FF2B5EF4-FFF2-40B4-BE49-F238E27FC236}">
                <a16:creationId xmlns:a16="http://schemas.microsoft.com/office/drawing/2014/main" id="{E1E3B5E9-B687-4FDB-A3C7-BF21F95ECDBF}"/>
              </a:ext>
            </a:extLst>
          </p:cNvPr>
          <p:cNvSpPr>
            <a:spLocks xmlns:a="http://schemas.openxmlformats.org/drawingml/2006/main" noGrp="1"/>
          </p:cNvSpPr>
          <p:nvPr/>
        </p:nvSpPr>
        <p:spPr>
          <a:xfrm xmlns:a="http://schemas.openxmlformats.org/drawingml/2006/main">
            <a:off x="514350" y="1619250"/>
            <a:ext cx="447675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FFFFFF"/>
                </a:solidFill>
                <a:latin typeface="Aptos"/>
                <a:ea typeface="Aptos"/>
                <a:cs typeface="Aptos"/>
              </a:defRPr>
            </a:pPr>
            <a:r>
              <a:rPr sz="3750" b="1">
                <a:solidFill>
                  <a:srgbClr val="FFFFFF"/>
                </a:solidFill>
                <a:latin typeface="Aptos"/>
                <a:ea typeface="Aptos"/>
                <a:cs typeface="Aptos"/>
              </a:rPr>
              <a:t>Bring the problem.</a:t>
            </a:r>
          </a:p>
          <a:p xmlns:a="http://schemas.openxmlformats.org/drawingml/2006/main">
            <a:pPr algn="l">
              <a:defRPr sz="3750" b="1">
                <a:solidFill>
                  <a:srgbClr val="FFFFFF"/>
                </a:solidFill>
                <a:latin typeface="Aptos"/>
                <a:ea typeface="Aptos"/>
                <a:cs typeface="Aptos"/>
              </a:defRPr>
            </a:pPr>
            <a:r>
              <a:rPr sz="3750" b="1">
                <a:solidFill>
                  <a:srgbClr val="FFFFFF"/>
                </a:solidFill>
                <a:latin typeface="Aptos"/>
                <a:ea typeface="Aptos"/>
                <a:cs typeface="Aptos"/>
              </a:rPr>
              <a:t>Bring your curiosity.</a:t>
            </a:r>
          </a:p>
          <a:p xmlns:a="http://schemas.openxmlformats.org/drawingml/2006/main">
            <a:pPr algn="l">
              <a:defRPr sz="3750" b="1">
                <a:solidFill>
                  <a:srgbClr val="FFFFFF"/>
                </a:solidFill>
                <a:latin typeface="Aptos"/>
                <a:ea typeface="Aptos"/>
                <a:cs typeface="Aptos"/>
              </a:defRPr>
            </a:pPr>
            <a:r>
              <a:rPr sz="3750" b="1">
                <a:solidFill>
                  <a:srgbClr val="FFFFFF"/>
                </a:solidFill>
                <a:latin typeface="Aptos"/>
                <a:ea typeface="Aptos"/>
                <a:cs typeface="Aptos"/>
              </a:rPr>
              <a:t>Manage the outcome.</a:t>
            </a:r>
          </a:p>
        </p:txBody>
      </p:sp>
      <p:sp>
        <p:nvSpPr>
          <p:cNvPr id="5" name="">
            <a:extLst xmlns:a="http://schemas.openxmlformats.org/drawingml/2006/main">
              <a:ext uri="{FF2B5EF4-FFF2-40B4-BE49-F238E27FC236}">
                <a16:creationId xmlns:a16="http://schemas.microsoft.com/office/drawing/2014/main" id="{39BFAEF4-F483-4A5E-9E39-5675F1EE0024}"/>
              </a:ext>
            </a:extLst>
          </p:cNvPr>
          <p:cNvSpPr>
            <a:spLocks xmlns:a="http://schemas.openxmlformats.org/drawingml/2006/main" noGrp="1"/>
          </p:cNvSpPr>
          <p:nvPr/>
        </p:nvSpPr>
        <p:spPr>
          <a:xfrm xmlns:a="http://schemas.openxmlformats.org/drawingml/2006/main">
            <a:off x="533400" y="4895850"/>
            <a:ext cx="1066800" cy="66675"/>
          </a:xfrm>
          <a:prstGeom xmlns:a="http://schemas.openxmlformats.org/drawingml/2006/main" prst="rect">
            <a:avLst/>
          </a:prstGeom>
          <a:solidFill xmlns:a="http://schemas.openxmlformats.org/drawingml/2006/main">
            <a:srgbClr val="E4314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5F8831-47F4-4C81-B5F3-5F8B50514731}"/>
              </a:ext>
            </a:extLst>
          </p:cNvPr>
          <p:cNvSpPr>
            <a:spLocks xmlns:a="http://schemas.openxmlformats.org/drawingml/2006/main" noGrp="1"/>
          </p:cNvSpPr>
          <p:nvPr/>
        </p:nvSpPr>
        <p:spPr>
          <a:xfrm xmlns:a="http://schemas.openxmlformats.org/drawingml/2006/main">
            <a:off x="533400" y="5257800"/>
            <a:ext cx="419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7F2E8"/>
                </a:solidFill>
                <a:latin typeface="Aptos"/>
                <a:ea typeface="Aptos"/>
                <a:cs typeface="Aptos"/>
              </a:defRPr>
            </a:pPr>
            <a:r>
              <a:rPr sz="1875" b="1">
                <a:solidFill>
                  <a:srgbClr val="F7F2E8"/>
                </a:solidFill>
                <a:latin typeface="Aptos"/>
                <a:ea typeface="Aptos"/>
                <a:cs typeface="Aptos"/>
              </a:rPr>
              <a:t>Build a small experiment.</a:t>
            </a:r>
          </a:p>
          <a:p xmlns:a="http://schemas.openxmlformats.org/drawingml/2006/main">
            <a:pPr algn="l">
              <a:defRPr sz="1875" b="1">
                <a:solidFill>
                  <a:srgbClr val="F7F2E8"/>
                </a:solidFill>
                <a:latin typeface="Aptos"/>
                <a:ea typeface="Aptos"/>
                <a:cs typeface="Aptos"/>
              </a:defRPr>
            </a:pPr>
            <a:r>
              <a:rPr sz="1875" b="1">
                <a:solidFill>
                  <a:srgbClr val="F7F2E8"/>
                </a:solidFill>
                <a:latin typeface="Aptos"/>
                <a:ea typeface="Aptos"/>
                <a:cs typeface="Aptos"/>
              </a:rPr>
              <a:t>See what you learn.</a:t>
            </a:r>
          </a:p>
        </p:txBody>
      </p:sp>
    </p:spTree>
    <p:extLst>
      <p:ext uri="{BB962C8B-B14F-4D97-AF65-F5344CB8AC3E}">
        <p14:creationId xmlns:p14="http://schemas.microsoft.com/office/powerpoint/2010/main" val="1564093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2026-08-28T20:15:16.7700000Z</dcterms:created>
  <dcterms:modified xsi:type="dcterms:W3CDTF">2026-08-28T20:15:16.7700000Z</dcterms:modified>
</coreProperties>
</file>